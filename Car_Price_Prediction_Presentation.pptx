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sldIdLst>
    <p:sldId id="256" r:id="rId2"/>
    <p:sldId id="257" r:id="rId3"/>
    <p:sldId id="258" r:id="rId4"/>
    <p:sldId id="259" r:id="rId5"/>
    <p:sldId id="260" r:id="rId6"/>
    <p:sldId id="261" r:id="rId7"/>
    <p:sldId id="262" r:id="rId8"/>
    <p:sldId id="263" r:id="rId9"/>
    <p:sldId id="264" r:id="rId10"/>
    <p:sldId id="306" r:id="rId11"/>
    <p:sldId id="265" r:id="rId12"/>
    <p:sldId id="307" r:id="rId13"/>
    <p:sldId id="308" r:id="rId14"/>
    <p:sldId id="309" r:id="rId15"/>
    <p:sldId id="310" r:id="rId16"/>
    <p:sldId id="311" r:id="rId17"/>
    <p:sldId id="312" r:id="rId18"/>
    <p:sldId id="313" r:id="rId19"/>
    <p:sldId id="315" r:id="rId20"/>
    <p:sldId id="316" r:id="rId21"/>
    <p:sldId id="324" r:id="rId22"/>
    <p:sldId id="333" r:id="rId23"/>
    <p:sldId id="319" r:id="rId24"/>
    <p:sldId id="320" r:id="rId25"/>
    <p:sldId id="326" r:id="rId26"/>
    <p:sldId id="334" r:id="rId27"/>
    <p:sldId id="317" r:id="rId28"/>
    <p:sldId id="318" r:id="rId29"/>
    <p:sldId id="327" r:id="rId30"/>
    <p:sldId id="335" r:id="rId31"/>
    <p:sldId id="321" r:id="rId32"/>
    <p:sldId id="328" r:id="rId33"/>
    <p:sldId id="336" r:id="rId34"/>
    <p:sldId id="322" r:id="rId35"/>
    <p:sldId id="329" r:id="rId36"/>
    <p:sldId id="337" r:id="rId37"/>
    <p:sldId id="330" r:id="rId38"/>
    <p:sldId id="331" r:id="rId39"/>
    <p:sldId id="332" r:id="rId40"/>
    <p:sldId id="338" r:id="rId41"/>
    <p:sldId id="323" r:id="rId42"/>
    <p:sldId id="275" r:id="rId43"/>
    <p:sldId id="276" r:id="rId44"/>
    <p:sldId id="277" r:id="rId45"/>
    <p:sldId id="339" r:id="rId46"/>
    <p:sldId id="279" r:id="rId47"/>
    <p:sldId id="340" r:id="rId48"/>
    <p:sldId id="299" r:id="rId49"/>
    <p:sldId id="303" r:id="rId50"/>
    <p:sldId id="30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60"/>
  </p:normalViewPr>
  <p:slideViewPr>
    <p:cSldViewPr snapToGrid="0" snapToObjects="1">
      <p:cViewPr varScale="1">
        <p:scale>
          <a:sx n="68" d="100"/>
          <a:sy n="68" d="100"/>
        </p:scale>
        <p:origin x="150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756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4982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069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6801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6302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904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7/23/2025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468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299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1622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6658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8074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55515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9680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2877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4255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781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433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8736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7/23/2025</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8002113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5400" dirty="0"/>
              <a:t>Car Price Prediction Using Machine Learning</a:t>
            </a:r>
          </a:p>
        </p:txBody>
      </p:sp>
      <p:sp>
        <p:nvSpPr>
          <p:cNvPr id="3" name="Content Placeholder 2"/>
          <p:cNvSpPr>
            <a:spLocks noGrp="1"/>
          </p:cNvSpPr>
          <p:nvPr>
            <p:ph idx="1"/>
          </p:nvPr>
        </p:nvSpPr>
        <p:spPr>
          <a:xfrm>
            <a:off x="3886670" y="2924242"/>
            <a:ext cx="4572000" cy="2963595"/>
          </a:xfrm>
        </p:spPr>
        <p:txBody>
          <a:bodyPr>
            <a:normAutofit/>
          </a:bodyPr>
          <a:lstStyle/>
          <a:p>
            <a:pPr marL="0" indent="0">
              <a:buNone/>
            </a:pPr>
            <a:r>
              <a:rPr lang="en-US" dirty="0"/>
              <a:t>      Group name : ace</a:t>
            </a:r>
            <a:endParaRPr dirty="0"/>
          </a:p>
          <a:p>
            <a:pPr marL="0" indent="0">
              <a:buNone/>
            </a:pPr>
            <a:r>
              <a:rPr lang="en-US" dirty="0"/>
              <a:t>                  </a:t>
            </a:r>
            <a:r>
              <a:rPr dirty="0"/>
              <a:t>By: </a:t>
            </a:r>
            <a:r>
              <a:rPr lang="en-US" dirty="0" err="1"/>
              <a:t>yash</a:t>
            </a:r>
            <a:r>
              <a:rPr lang="en-US" dirty="0"/>
              <a:t> </a:t>
            </a:r>
            <a:r>
              <a:rPr lang="en-US" dirty="0" err="1"/>
              <a:t>srivastava</a:t>
            </a:r>
            <a:r>
              <a:rPr lang="en-US" dirty="0"/>
              <a:t> </a:t>
            </a:r>
          </a:p>
          <a:p>
            <a:pPr marL="0" indent="0">
              <a:buNone/>
            </a:pPr>
            <a:r>
              <a:rPr lang="en-US" dirty="0"/>
              <a:t>                  By: </a:t>
            </a:r>
            <a:r>
              <a:rPr lang="en-US" dirty="0" err="1"/>
              <a:t>tanishk</a:t>
            </a:r>
            <a:r>
              <a:rPr lang="en-US" dirty="0"/>
              <a:t> rana</a:t>
            </a:r>
          </a:p>
          <a:p>
            <a:pPr marL="0" indent="0">
              <a:buNone/>
            </a:pPr>
            <a:r>
              <a:rPr lang="en-US" dirty="0"/>
              <a:t>                  by: Raghav Sharma</a:t>
            </a:r>
          </a:p>
          <a:p>
            <a:pPr marL="0" indent="0">
              <a:buNone/>
            </a:pPr>
            <a:r>
              <a:rPr lang="en-US" dirty="0"/>
              <a:t>                  by: </a:t>
            </a:r>
            <a:r>
              <a:rPr lang="en-US" dirty="0" err="1"/>
              <a:t>lakshay</a:t>
            </a:r>
            <a:r>
              <a:rPr lang="en-US" dirty="0"/>
              <a:t> Khandelwal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977" y="268710"/>
            <a:ext cx="8317991" cy="1596177"/>
          </a:xfrm>
        </p:spPr>
        <p:txBody>
          <a:bodyPr>
            <a:normAutofit/>
          </a:bodyPr>
          <a:lstStyle/>
          <a:p>
            <a:r>
              <a:rPr sz="6000" dirty="0"/>
              <a:t>Project Overview</a:t>
            </a:r>
          </a:p>
        </p:txBody>
      </p:sp>
      <p:sp>
        <p:nvSpPr>
          <p:cNvPr id="3" name="Content Placeholder 2"/>
          <p:cNvSpPr>
            <a:spLocks noGrp="1"/>
          </p:cNvSpPr>
          <p:nvPr>
            <p:ph idx="1"/>
          </p:nvPr>
        </p:nvSpPr>
        <p:spPr>
          <a:xfrm>
            <a:off x="403977" y="2208629"/>
            <a:ext cx="7938165" cy="3263704"/>
          </a:xfrm>
        </p:spPr>
        <p:txBody>
          <a:bodyPr/>
          <a:lstStyle/>
          <a:p>
            <a:endParaRPr dirty="0"/>
          </a:p>
          <a:p>
            <a:r>
              <a:rPr sz="3200" dirty="0"/>
              <a:t>Predict used car prices using ML.</a:t>
            </a:r>
          </a:p>
          <a:p>
            <a:r>
              <a:rPr sz="3200" dirty="0"/>
              <a:t>Utilize historical data for accurate predictions.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452" y="268710"/>
            <a:ext cx="7773338" cy="1596177"/>
          </a:xfrm>
        </p:spPr>
        <p:txBody>
          <a:bodyPr>
            <a:normAutofit/>
          </a:bodyPr>
          <a:lstStyle/>
          <a:p>
            <a:r>
              <a:rPr sz="6000" dirty="0"/>
              <a:t>Problem Statement</a:t>
            </a:r>
          </a:p>
        </p:txBody>
      </p:sp>
      <p:sp>
        <p:nvSpPr>
          <p:cNvPr id="3" name="Content Placeholder 2"/>
          <p:cNvSpPr>
            <a:spLocks noGrp="1"/>
          </p:cNvSpPr>
          <p:nvPr>
            <p:ph idx="1"/>
          </p:nvPr>
        </p:nvSpPr>
        <p:spPr/>
        <p:txBody>
          <a:bodyPr/>
          <a:lstStyle/>
          <a:p>
            <a:endParaRPr dirty="0"/>
          </a:p>
          <a:p>
            <a:r>
              <a:rPr sz="3200" dirty="0"/>
              <a:t>Manual price estimation is inaccurate.</a:t>
            </a:r>
          </a:p>
          <a:p>
            <a:r>
              <a:rPr sz="3200" dirty="0"/>
              <a:t>Need for a data-driven approach.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452" y="393435"/>
            <a:ext cx="7773338" cy="1596177"/>
          </a:xfrm>
        </p:spPr>
        <p:txBody>
          <a:bodyPr>
            <a:normAutofit/>
          </a:bodyPr>
          <a:lstStyle/>
          <a:p>
            <a:r>
              <a:rPr sz="6600" dirty="0"/>
              <a:t>Objective</a:t>
            </a:r>
          </a:p>
        </p:txBody>
      </p:sp>
      <p:sp>
        <p:nvSpPr>
          <p:cNvPr id="3" name="Content Placeholder 2"/>
          <p:cNvSpPr>
            <a:spLocks noGrp="1"/>
          </p:cNvSpPr>
          <p:nvPr>
            <p:ph idx="1"/>
          </p:nvPr>
        </p:nvSpPr>
        <p:spPr/>
        <p:txBody>
          <a:bodyPr/>
          <a:lstStyle/>
          <a:p>
            <a:endParaRPr dirty="0"/>
          </a:p>
          <a:p>
            <a:r>
              <a:rPr sz="3200" dirty="0"/>
              <a:t>Build an ML model to predict car prices.</a:t>
            </a:r>
          </a:p>
          <a:p>
            <a:r>
              <a:rPr sz="3200" dirty="0"/>
              <a:t>Use regression techniques on Kaggle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01" y="268710"/>
            <a:ext cx="7773338" cy="1596177"/>
          </a:xfrm>
        </p:spPr>
        <p:txBody>
          <a:bodyPr>
            <a:normAutofit/>
          </a:bodyPr>
          <a:lstStyle/>
          <a:p>
            <a:r>
              <a:rPr sz="6000" dirty="0"/>
              <a:t>Scope of the Project</a:t>
            </a:r>
          </a:p>
        </p:txBody>
      </p:sp>
      <p:sp>
        <p:nvSpPr>
          <p:cNvPr id="3" name="Content Placeholder 2"/>
          <p:cNvSpPr>
            <a:spLocks noGrp="1"/>
          </p:cNvSpPr>
          <p:nvPr>
            <p:ph idx="1"/>
          </p:nvPr>
        </p:nvSpPr>
        <p:spPr>
          <a:xfrm>
            <a:off x="263301" y="2057605"/>
            <a:ext cx="7773339" cy="3424107"/>
          </a:xfrm>
        </p:spPr>
        <p:txBody>
          <a:bodyPr>
            <a:normAutofit/>
          </a:bodyPr>
          <a:lstStyle/>
          <a:p>
            <a:endParaRPr sz="3200" dirty="0"/>
          </a:p>
          <a:p>
            <a:r>
              <a:rPr sz="3200" dirty="0"/>
              <a:t>Dataset from Kaggle.</a:t>
            </a:r>
          </a:p>
          <a:p>
            <a:r>
              <a:rPr sz="3200" dirty="0"/>
              <a:t>Preprocessing, training, evaluation and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910" y="435638"/>
            <a:ext cx="7773338" cy="1596177"/>
          </a:xfrm>
        </p:spPr>
        <p:txBody>
          <a:bodyPr>
            <a:normAutofit/>
          </a:bodyPr>
          <a:lstStyle/>
          <a:p>
            <a:r>
              <a:rPr sz="6000" dirty="0"/>
              <a:t>About the Dataset</a:t>
            </a:r>
          </a:p>
        </p:txBody>
      </p:sp>
      <p:sp>
        <p:nvSpPr>
          <p:cNvPr id="3" name="Content Placeholder 2"/>
          <p:cNvSpPr>
            <a:spLocks noGrp="1"/>
          </p:cNvSpPr>
          <p:nvPr>
            <p:ph idx="1"/>
          </p:nvPr>
        </p:nvSpPr>
        <p:spPr>
          <a:xfrm>
            <a:off x="544654" y="2198282"/>
            <a:ext cx="7773339" cy="3424107"/>
          </a:xfrm>
        </p:spPr>
        <p:txBody>
          <a:bodyPr>
            <a:normAutofit/>
          </a:bodyPr>
          <a:lstStyle/>
          <a:p>
            <a:endParaRPr dirty="0"/>
          </a:p>
          <a:p>
            <a:r>
              <a:rPr sz="3200" dirty="0"/>
              <a:t>Source: Kaggle</a:t>
            </a:r>
            <a:br>
              <a:rPr lang="en-US" sz="3200" dirty="0"/>
            </a:br>
            <a:r>
              <a:rPr lang="en-US" sz="3200" dirty="0"/>
              <a:t>(CAR PRICE PREDICTION)</a:t>
            </a:r>
            <a:r>
              <a:rPr sz="3200" dirty="0"/>
              <a:t> </a:t>
            </a:r>
            <a:endParaRPr lang="en-US" sz="3200" dirty="0"/>
          </a:p>
          <a:p>
            <a:r>
              <a:rPr sz="3200" dirty="0"/>
              <a:t>Includes details of car specs and price.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640" y="268710"/>
            <a:ext cx="7773338" cy="1596177"/>
          </a:xfrm>
        </p:spPr>
        <p:txBody>
          <a:bodyPr>
            <a:normAutofit/>
          </a:bodyPr>
          <a:lstStyle/>
          <a:p>
            <a:r>
              <a:rPr sz="6000" dirty="0"/>
              <a:t>Feature Description</a:t>
            </a:r>
          </a:p>
        </p:txBody>
      </p:sp>
      <p:sp>
        <p:nvSpPr>
          <p:cNvPr id="3" name="Content Placeholder 2"/>
          <p:cNvSpPr>
            <a:spLocks noGrp="1"/>
          </p:cNvSpPr>
          <p:nvPr>
            <p:ph idx="1"/>
          </p:nvPr>
        </p:nvSpPr>
        <p:spPr/>
        <p:txBody>
          <a:bodyPr/>
          <a:lstStyle/>
          <a:p>
            <a:endParaRPr dirty="0"/>
          </a:p>
          <a:p>
            <a:r>
              <a:rPr sz="3200" dirty="0"/>
              <a:t>Columns: name, year, fuel type, mileage, engine, etc.</a:t>
            </a:r>
          </a:p>
          <a:p>
            <a:r>
              <a:rPr sz="3200" dirty="0"/>
              <a:t>Target: </a:t>
            </a:r>
            <a:r>
              <a:rPr sz="3200" dirty="0" err="1"/>
              <a:t>selling_price</a:t>
            </a:r>
            <a:r>
              <a:rPr sz="32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978" y="379367"/>
            <a:ext cx="7773338" cy="1596177"/>
          </a:xfrm>
        </p:spPr>
        <p:txBody>
          <a:bodyPr>
            <a:normAutofit/>
          </a:bodyPr>
          <a:lstStyle/>
          <a:p>
            <a:r>
              <a:rPr sz="6000" dirty="0"/>
              <a:t>Target Variable</a:t>
            </a:r>
          </a:p>
        </p:txBody>
      </p:sp>
      <p:sp>
        <p:nvSpPr>
          <p:cNvPr id="3" name="Content Placeholder 2"/>
          <p:cNvSpPr>
            <a:spLocks noGrp="1"/>
          </p:cNvSpPr>
          <p:nvPr>
            <p:ph idx="1"/>
          </p:nvPr>
        </p:nvSpPr>
        <p:spPr/>
        <p:txBody>
          <a:bodyPr/>
          <a:lstStyle/>
          <a:p>
            <a:endParaRPr dirty="0"/>
          </a:p>
          <a:p>
            <a:r>
              <a:rPr sz="3200" dirty="0"/>
              <a:t>Target variable: </a:t>
            </a:r>
            <a:r>
              <a:rPr sz="3200" dirty="0" err="1"/>
              <a:t>selling_price</a:t>
            </a:r>
            <a:r>
              <a:rPr sz="3200" dirty="0"/>
              <a:t>.</a:t>
            </a:r>
          </a:p>
          <a:p>
            <a:r>
              <a:rPr sz="3200" dirty="0"/>
              <a:t>Continuous variable.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02" y="393435"/>
            <a:ext cx="7773338" cy="1596177"/>
          </a:xfrm>
        </p:spPr>
        <p:txBody>
          <a:bodyPr>
            <a:normAutofit/>
          </a:bodyPr>
          <a:lstStyle/>
          <a:p>
            <a:r>
              <a:rPr sz="6000" dirty="0"/>
              <a:t>Libraries</a:t>
            </a:r>
            <a:r>
              <a:rPr lang="en-US" sz="6000" dirty="0"/>
              <a:t> used </a:t>
            </a:r>
            <a:endParaRPr sz="6000" dirty="0"/>
          </a:p>
        </p:txBody>
      </p:sp>
      <p:sp>
        <p:nvSpPr>
          <p:cNvPr id="3" name="Content Placeholder 2"/>
          <p:cNvSpPr>
            <a:spLocks noGrp="1"/>
          </p:cNvSpPr>
          <p:nvPr>
            <p:ph idx="1"/>
          </p:nvPr>
        </p:nvSpPr>
        <p:spPr>
          <a:xfrm>
            <a:off x="436099" y="1871003"/>
            <a:ext cx="8022572" cy="4248443"/>
          </a:xfrm>
        </p:spPr>
        <p:txBody>
          <a:bodyPr>
            <a:normAutofit lnSpcReduction="10000"/>
          </a:bodyPr>
          <a:lstStyle/>
          <a:p>
            <a:endParaRPr dirty="0"/>
          </a:p>
          <a:p>
            <a:r>
              <a:rPr sz="3500" dirty="0"/>
              <a:t>pandas </a:t>
            </a:r>
            <a:endParaRPr lang="en-US" sz="3500" dirty="0"/>
          </a:p>
          <a:p>
            <a:r>
              <a:rPr sz="3500" dirty="0" err="1"/>
              <a:t>numpy</a:t>
            </a:r>
            <a:endParaRPr lang="en-US" sz="3500" dirty="0"/>
          </a:p>
          <a:p>
            <a:r>
              <a:rPr sz="3500" dirty="0"/>
              <a:t> matplotlib</a:t>
            </a:r>
            <a:endParaRPr lang="en-US" sz="3500" dirty="0"/>
          </a:p>
          <a:p>
            <a:r>
              <a:rPr sz="3500" dirty="0"/>
              <a:t> seaborn</a:t>
            </a:r>
            <a:endParaRPr lang="en-US" sz="3500" dirty="0"/>
          </a:p>
          <a:p>
            <a:r>
              <a:rPr sz="3500" dirty="0"/>
              <a:t> </a:t>
            </a:r>
            <a:r>
              <a:rPr sz="3500" dirty="0" err="1"/>
              <a:t>sklearn</a:t>
            </a:r>
            <a:endParaRPr lang="en-US" sz="3500" dirty="0"/>
          </a:p>
          <a:p>
            <a:pPr marL="0" indent="0">
              <a:buNone/>
            </a:pPr>
            <a:endParaRPr sz="3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364A2-B5FD-51A0-539B-C86675DA7D97}"/>
              </a:ext>
            </a:extLst>
          </p:cNvPr>
          <p:cNvSpPr>
            <a:spLocks noGrp="1"/>
          </p:cNvSpPr>
          <p:nvPr>
            <p:ph type="title"/>
          </p:nvPr>
        </p:nvSpPr>
        <p:spPr>
          <a:xfrm>
            <a:off x="0" y="407502"/>
            <a:ext cx="7773338" cy="1596177"/>
          </a:xfrm>
        </p:spPr>
        <p:txBody>
          <a:bodyPr/>
          <a:lstStyle/>
          <a:p>
            <a:r>
              <a:rPr lang="en-US" sz="6600" dirty="0"/>
              <a:t>Code</a:t>
            </a:r>
            <a:r>
              <a:rPr lang="en-US" dirty="0"/>
              <a:t> </a:t>
            </a:r>
          </a:p>
        </p:txBody>
      </p:sp>
      <p:sp>
        <p:nvSpPr>
          <p:cNvPr id="3" name="Content Placeholder 2">
            <a:extLst>
              <a:ext uri="{FF2B5EF4-FFF2-40B4-BE49-F238E27FC236}">
                <a16:creationId xmlns:a16="http://schemas.microsoft.com/office/drawing/2014/main" id="{E908F601-46FB-398C-18EF-25C2AA89755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263AB98-D1A8-C472-8034-C47C8BD8B42C}"/>
              </a:ext>
            </a:extLst>
          </p:cNvPr>
          <p:cNvPicPr>
            <a:picLocks noChangeAspect="1"/>
          </p:cNvPicPr>
          <p:nvPr/>
        </p:nvPicPr>
        <p:blipFill>
          <a:blip r:embed="rId2"/>
          <a:srcRect r="25258"/>
          <a:stretch>
            <a:fillRect/>
          </a:stretch>
        </p:blipFill>
        <p:spPr>
          <a:xfrm>
            <a:off x="0" y="2630914"/>
            <a:ext cx="8651631" cy="4024784"/>
          </a:xfrm>
          <a:prstGeom prst="rect">
            <a:avLst/>
          </a:prstGeom>
        </p:spPr>
      </p:pic>
    </p:spTree>
    <p:extLst>
      <p:ext uri="{BB962C8B-B14F-4D97-AF65-F5344CB8AC3E}">
        <p14:creationId xmlns:p14="http://schemas.microsoft.com/office/powerpoint/2010/main" val="675119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030" y="365300"/>
            <a:ext cx="8008502" cy="1748576"/>
          </a:xfrm>
        </p:spPr>
        <p:txBody>
          <a:bodyPr>
            <a:normAutofit/>
          </a:bodyPr>
          <a:lstStyle/>
          <a:p>
            <a:r>
              <a:rPr sz="6000" dirty="0"/>
              <a:t>Loading the Dataset</a:t>
            </a:r>
          </a:p>
        </p:txBody>
      </p:sp>
      <p:sp>
        <p:nvSpPr>
          <p:cNvPr id="3" name="Content Placeholder 2"/>
          <p:cNvSpPr>
            <a:spLocks noGrp="1"/>
          </p:cNvSpPr>
          <p:nvPr>
            <p:ph idx="1"/>
          </p:nvPr>
        </p:nvSpPr>
        <p:spPr>
          <a:xfrm>
            <a:off x="207030" y="2356747"/>
            <a:ext cx="8824428" cy="4001849"/>
          </a:xfrm>
        </p:spPr>
        <p:txBody>
          <a:bodyPr/>
          <a:lstStyle/>
          <a:p>
            <a:endParaRPr sz="3200" dirty="0"/>
          </a:p>
          <a:p>
            <a:r>
              <a:rPr sz="3200" dirty="0"/>
              <a:t>Use pandas to read CSV file.</a:t>
            </a:r>
            <a:endParaRPr lang="en-US" sz="3200" dirty="0"/>
          </a:p>
          <a:p>
            <a:endParaRPr lang="en-US" sz="3200" dirty="0"/>
          </a:p>
          <a:p>
            <a:r>
              <a:rPr lang="en-US" sz="3200" dirty="0"/>
              <a:t>Basic syntax to load dataset:  = “</a:t>
            </a:r>
            <a:r>
              <a:rPr lang="en-US" sz="3200" dirty="0" err="1"/>
              <a:t>pd.read_csv</a:t>
            </a:r>
            <a:r>
              <a:rPr lang="en-US" sz="3200" dirty="0"/>
              <a:t>("filename.csv")”</a:t>
            </a:r>
          </a:p>
          <a:p>
            <a:endParaRPr dirty="0"/>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0FC1-266C-303D-8325-6FED1068C455}"/>
              </a:ext>
            </a:extLst>
          </p:cNvPr>
          <p:cNvSpPr>
            <a:spLocks noGrp="1"/>
          </p:cNvSpPr>
          <p:nvPr>
            <p:ph type="title"/>
          </p:nvPr>
        </p:nvSpPr>
        <p:spPr>
          <a:xfrm>
            <a:off x="305504" y="435638"/>
            <a:ext cx="7773338" cy="1596177"/>
          </a:xfrm>
        </p:spPr>
        <p:txBody>
          <a:bodyPr>
            <a:normAutofit/>
          </a:bodyPr>
          <a:lstStyle/>
          <a:p>
            <a:r>
              <a:rPr lang="en-US" sz="6600" dirty="0"/>
              <a:t>code</a:t>
            </a:r>
          </a:p>
        </p:txBody>
      </p:sp>
      <p:sp>
        <p:nvSpPr>
          <p:cNvPr id="3" name="Content Placeholder 2">
            <a:extLst>
              <a:ext uri="{FF2B5EF4-FFF2-40B4-BE49-F238E27FC236}">
                <a16:creationId xmlns:a16="http://schemas.microsoft.com/office/drawing/2014/main" id="{5683CAEE-3D4B-8C6B-C183-62D6EF5B276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A6CA158-4A72-45D5-F10D-5A262909BCCE}"/>
              </a:ext>
            </a:extLst>
          </p:cNvPr>
          <p:cNvPicPr>
            <a:picLocks noChangeAspect="1"/>
          </p:cNvPicPr>
          <p:nvPr/>
        </p:nvPicPr>
        <p:blipFill>
          <a:blip r:embed="rId2"/>
          <a:srcRect r="9746"/>
          <a:stretch>
            <a:fillRect/>
          </a:stretch>
        </p:blipFill>
        <p:spPr>
          <a:xfrm>
            <a:off x="-1" y="2031813"/>
            <a:ext cx="9020661" cy="3229503"/>
          </a:xfrm>
          <a:prstGeom prst="rect">
            <a:avLst/>
          </a:prstGeom>
        </p:spPr>
      </p:pic>
    </p:spTree>
    <p:extLst>
      <p:ext uri="{BB962C8B-B14F-4D97-AF65-F5344CB8AC3E}">
        <p14:creationId xmlns:p14="http://schemas.microsoft.com/office/powerpoint/2010/main" val="1759155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3091-6B22-22FA-A990-9F49CC83EE50}"/>
              </a:ext>
            </a:extLst>
          </p:cNvPr>
          <p:cNvSpPr>
            <a:spLocks noGrp="1"/>
          </p:cNvSpPr>
          <p:nvPr>
            <p:ph type="title"/>
          </p:nvPr>
        </p:nvSpPr>
        <p:spPr/>
        <p:txBody>
          <a:bodyPr>
            <a:normAutofit fontScale="90000"/>
          </a:bodyPr>
          <a:lstStyle/>
          <a:p>
            <a:r>
              <a:rPr lang="en-US" sz="5300" dirty="0"/>
              <a:t>EDA ( Exploratory Data Analysis )</a:t>
            </a:r>
            <a:br>
              <a:rPr lang="en-US" dirty="0"/>
            </a:br>
            <a:endParaRPr lang="en-US" dirty="0"/>
          </a:p>
        </p:txBody>
      </p:sp>
      <p:sp>
        <p:nvSpPr>
          <p:cNvPr id="3" name="Content Placeholder 2">
            <a:extLst>
              <a:ext uri="{FF2B5EF4-FFF2-40B4-BE49-F238E27FC236}">
                <a16:creationId xmlns:a16="http://schemas.microsoft.com/office/drawing/2014/main" id="{7A6C95D1-4A57-0837-6DA8-3242DD5188D9}"/>
              </a:ext>
            </a:extLst>
          </p:cNvPr>
          <p:cNvSpPr>
            <a:spLocks noGrp="1"/>
          </p:cNvSpPr>
          <p:nvPr>
            <p:ph idx="1"/>
          </p:nvPr>
        </p:nvSpPr>
        <p:spPr/>
        <p:txBody>
          <a:bodyPr>
            <a:normAutofit/>
          </a:bodyPr>
          <a:lstStyle/>
          <a:p>
            <a:r>
              <a:rPr lang="en-US" sz="2400" dirty="0"/>
              <a:t>EDA (Exploratory Data Analysis) is the first step in the data analysis or machine learning pipeline. It involves understanding the data, uncovering patterns, spotting anomalies, and forming hypotheses using visual and statistical techniques.</a:t>
            </a:r>
          </a:p>
          <a:p>
            <a:endParaRPr lang="en-US" sz="2400" dirty="0"/>
          </a:p>
        </p:txBody>
      </p:sp>
    </p:spTree>
    <p:extLst>
      <p:ext uri="{BB962C8B-B14F-4D97-AF65-F5344CB8AC3E}">
        <p14:creationId xmlns:p14="http://schemas.microsoft.com/office/powerpoint/2010/main" val="1179456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AC71-E4E4-1055-909E-15D7E8B20447}"/>
              </a:ext>
            </a:extLst>
          </p:cNvPr>
          <p:cNvSpPr>
            <a:spLocks noGrp="1"/>
          </p:cNvSpPr>
          <p:nvPr>
            <p:ph type="title"/>
          </p:nvPr>
        </p:nvSpPr>
        <p:spPr/>
        <p:txBody>
          <a:bodyPr>
            <a:normAutofit/>
          </a:bodyPr>
          <a:lstStyle/>
          <a:p>
            <a:r>
              <a:rPr lang="en-US" sz="6600" dirty="0"/>
              <a:t>DATA DESCRIPTION </a:t>
            </a:r>
          </a:p>
        </p:txBody>
      </p:sp>
      <p:sp>
        <p:nvSpPr>
          <p:cNvPr id="3" name="Content Placeholder 2">
            <a:extLst>
              <a:ext uri="{FF2B5EF4-FFF2-40B4-BE49-F238E27FC236}">
                <a16:creationId xmlns:a16="http://schemas.microsoft.com/office/drawing/2014/main" id="{E6FBFA5B-D889-1B1B-670A-4874E3C3D03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CF80289-3693-D540-7243-D20D39C98B89}"/>
              </a:ext>
            </a:extLst>
          </p:cNvPr>
          <p:cNvPicPr>
            <a:picLocks noChangeAspect="1"/>
          </p:cNvPicPr>
          <p:nvPr/>
        </p:nvPicPr>
        <p:blipFill>
          <a:blip r:embed="rId2"/>
          <a:stretch>
            <a:fillRect/>
          </a:stretch>
        </p:blipFill>
        <p:spPr>
          <a:xfrm>
            <a:off x="0" y="2694930"/>
            <a:ext cx="8885854" cy="3896751"/>
          </a:xfrm>
          <a:prstGeom prst="rect">
            <a:avLst/>
          </a:prstGeom>
        </p:spPr>
      </p:pic>
    </p:spTree>
    <p:extLst>
      <p:ext uri="{BB962C8B-B14F-4D97-AF65-F5344CB8AC3E}">
        <p14:creationId xmlns:p14="http://schemas.microsoft.com/office/powerpoint/2010/main" val="1651661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A9559-C33F-3862-4C1E-4A321E4F0345}"/>
              </a:ext>
            </a:extLst>
          </p:cNvPr>
          <p:cNvSpPr>
            <a:spLocks noGrp="1"/>
          </p:cNvSpPr>
          <p:nvPr>
            <p:ph type="title"/>
          </p:nvPr>
        </p:nvSpPr>
        <p:spPr/>
        <p:txBody>
          <a:bodyPr>
            <a:normAutofit/>
          </a:bodyPr>
          <a:lstStyle/>
          <a:p>
            <a:r>
              <a:rPr lang="en-US" sz="6000" dirty="0"/>
              <a:t>DATA DESCRIPTION </a:t>
            </a:r>
          </a:p>
        </p:txBody>
      </p:sp>
      <p:sp>
        <p:nvSpPr>
          <p:cNvPr id="3" name="Content Placeholder 2">
            <a:extLst>
              <a:ext uri="{FF2B5EF4-FFF2-40B4-BE49-F238E27FC236}">
                <a16:creationId xmlns:a16="http://schemas.microsoft.com/office/drawing/2014/main" id="{8C528A89-965A-8E72-4FDE-C0789CE1EDA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DFE46A5-5B9F-6585-E5C5-A8961C9F17E7}"/>
              </a:ext>
            </a:extLst>
          </p:cNvPr>
          <p:cNvPicPr>
            <a:picLocks noChangeAspect="1"/>
          </p:cNvPicPr>
          <p:nvPr/>
        </p:nvPicPr>
        <p:blipFill>
          <a:blip r:embed="rId2"/>
          <a:stretch>
            <a:fillRect/>
          </a:stretch>
        </p:blipFill>
        <p:spPr>
          <a:xfrm>
            <a:off x="0" y="2848193"/>
            <a:ext cx="9144000" cy="3095407"/>
          </a:xfrm>
          <a:prstGeom prst="rect">
            <a:avLst/>
          </a:prstGeom>
        </p:spPr>
      </p:pic>
    </p:spTree>
    <p:extLst>
      <p:ext uri="{BB962C8B-B14F-4D97-AF65-F5344CB8AC3E}">
        <p14:creationId xmlns:p14="http://schemas.microsoft.com/office/powerpoint/2010/main" val="147997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D99D-766E-F962-2C51-B6731C20C634}"/>
              </a:ext>
            </a:extLst>
          </p:cNvPr>
          <p:cNvSpPr>
            <a:spLocks noGrp="1"/>
          </p:cNvSpPr>
          <p:nvPr>
            <p:ph type="title"/>
          </p:nvPr>
        </p:nvSpPr>
        <p:spPr/>
        <p:txBody>
          <a:bodyPr>
            <a:normAutofit/>
          </a:bodyPr>
          <a:lstStyle/>
          <a:p>
            <a:r>
              <a:rPr lang="en-US" sz="6000" dirty="0"/>
              <a:t>DATA COLUMNS </a:t>
            </a:r>
          </a:p>
        </p:txBody>
      </p:sp>
      <p:sp>
        <p:nvSpPr>
          <p:cNvPr id="3" name="Content Placeholder 2">
            <a:extLst>
              <a:ext uri="{FF2B5EF4-FFF2-40B4-BE49-F238E27FC236}">
                <a16:creationId xmlns:a16="http://schemas.microsoft.com/office/drawing/2014/main" id="{77BF521E-F23B-585C-C16A-F4DCDDAFAA3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C2350DF-4E5D-D697-0153-7816DDC898D1}"/>
              </a:ext>
            </a:extLst>
          </p:cNvPr>
          <p:cNvPicPr>
            <a:picLocks noChangeAspect="1"/>
          </p:cNvPicPr>
          <p:nvPr/>
        </p:nvPicPr>
        <p:blipFill>
          <a:blip r:embed="rId2"/>
          <a:stretch>
            <a:fillRect/>
          </a:stretch>
        </p:blipFill>
        <p:spPr>
          <a:xfrm>
            <a:off x="0" y="2943577"/>
            <a:ext cx="9034090" cy="2271140"/>
          </a:xfrm>
          <a:prstGeom prst="rect">
            <a:avLst/>
          </a:prstGeom>
        </p:spPr>
      </p:pic>
    </p:spTree>
    <p:extLst>
      <p:ext uri="{BB962C8B-B14F-4D97-AF65-F5344CB8AC3E}">
        <p14:creationId xmlns:p14="http://schemas.microsoft.com/office/powerpoint/2010/main" val="3084773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25C6-8043-55AF-ECD9-34E8F1D501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6C392C-131F-0944-59E7-E294D40C4E5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2F3F0618-E363-1E31-0B25-5AB597270E49}"/>
              </a:ext>
            </a:extLst>
          </p:cNvPr>
          <p:cNvPicPr>
            <a:picLocks noChangeAspect="1"/>
          </p:cNvPicPr>
          <p:nvPr/>
        </p:nvPicPr>
        <p:blipFill>
          <a:blip r:embed="rId2"/>
          <a:stretch>
            <a:fillRect/>
          </a:stretch>
        </p:blipFill>
        <p:spPr>
          <a:xfrm>
            <a:off x="330589" y="618518"/>
            <a:ext cx="5535637" cy="5984126"/>
          </a:xfrm>
          <a:prstGeom prst="rect">
            <a:avLst/>
          </a:prstGeom>
        </p:spPr>
      </p:pic>
    </p:spTree>
    <p:extLst>
      <p:ext uri="{BB962C8B-B14F-4D97-AF65-F5344CB8AC3E}">
        <p14:creationId xmlns:p14="http://schemas.microsoft.com/office/powerpoint/2010/main" val="3289290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4A8E-4AD1-A6AB-BF85-B8D5016BFF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EB4E43-8D54-8199-A070-59E0AC2C789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900B13A-C677-CA67-5AC5-F41C3C557BBD}"/>
              </a:ext>
            </a:extLst>
          </p:cNvPr>
          <p:cNvPicPr>
            <a:picLocks noChangeAspect="1"/>
          </p:cNvPicPr>
          <p:nvPr/>
        </p:nvPicPr>
        <p:blipFill>
          <a:blip r:embed="rId2"/>
          <a:stretch>
            <a:fillRect/>
          </a:stretch>
        </p:blipFill>
        <p:spPr>
          <a:xfrm>
            <a:off x="504824" y="431189"/>
            <a:ext cx="5600554" cy="6125196"/>
          </a:xfrm>
          <a:prstGeom prst="rect">
            <a:avLst/>
          </a:prstGeom>
        </p:spPr>
      </p:pic>
    </p:spTree>
    <p:extLst>
      <p:ext uri="{BB962C8B-B14F-4D97-AF65-F5344CB8AC3E}">
        <p14:creationId xmlns:p14="http://schemas.microsoft.com/office/powerpoint/2010/main" val="71044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A262-0567-C7A3-3F7A-7293F2A46062}"/>
              </a:ext>
            </a:extLst>
          </p:cNvPr>
          <p:cNvSpPr>
            <a:spLocks noGrp="1"/>
          </p:cNvSpPr>
          <p:nvPr>
            <p:ph type="title"/>
          </p:nvPr>
        </p:nvSpPr>
        <p:spPr>
          <a:xfrm>
            <a:off x="249234" y="449705"/>
            <a:ext cx="7773338" cy="1596177"/>
          </a:xfrm>
        </p:spPr>
        <p:txBody>
          <a:bodyPr>
            <a:normAutofit/>
          </a:bodyPr>
          <a:lstStyle/>
          <a:p>
            <a:r>
              <a:rPr lang="en-US" sz="6000" dirty="0"/>
              <a:t>HISTOGRAM </a:t>
            </a:r>
          </a:p>
        </p:txBody>
      </p:sp>
      <p:sp>
        <p:nvSpPr>
          <p:cNvPr id="3" name="Content Placeholder 2">
            <a:extLst>
              <a:ext uri="{FF2B5EF4-FFF2-40B4-BE49-F238E27FC236}">
                <a16:creationId xmlns:a16="http://schemas.microsoft.com/office/drawing/2014/main" id="{EB661DCA-CC63-6C5D-50F9-2D4E8C225387}"/>
              </a:ext>
            </a:extLst>
          </p:cNvPr>
          <p:cNvSpPr>
            <a:spLocks noGrp="1"/>
          </p:cNvSpPr>
          <p:nvPr>
            <p:ph idx="1"/>
          </p:nvPr>
        </p:nvSpPr>
        <p:spPr>
          <a:xfrm>
            <a:off x="450166" y="2045882"/>
            <a:ext cx="8008505" cy="4362413"/>
          </a:xfrm>
        </p:spPr>
        <p:txBody>
          <a:bodyPr>
            <a:normAutofit/>
          </a:bodyPr>
          <a:lstStyle/>
          <a:p>
            <a:r>
              <a:rPr lang="en-US" sz="2400" dirty="0"/>
              <a:t>histogram is a graphical representation that shows the distribution of a continuous numerical variable. It divides the data into intervals (called bins) and displays the frequency (count) of data points in each bin. </a:t>
            </a:r>
          </a:p>
          <a:p>
            <a:r>
              <a:rPr lang="en-US" sz="2400" dirty="0"/>
              <a:t>SYNTAX : “</a:t>
            </a:r>
            <a:r>
              <a:rPr lang="en-US" sz="2400" dirty="0" err="1"/>
              <a:t>sns.histplot</a:t>
            </a:r>
            <a:r>
              <a:rPr lang="en-US" sz="2400" dirty="0"/>
              <a:t>(data['price'], </a:t>
            </a:r>
            <a:r>
              <a:rPr lang="en-US" sz="2400" dirty="0" err="1"/>
              <a:t>kde</a:t>
            </a:r>
            <a:r>
              <a:rPr lang="en-US" sz="2400" dirty="0"/>
              <a:t> = True, bins = 14)</a:t>
            </a:r>
            <a:r>
              <a:rPr lang="en-US" sz="2400" dirty="0" err="1"/>
              <a:t>plt.title</a:t>
            </a:r>
            <a:r>
              <a:rPr lang="en-US" sz="2400" dirty="0"/>
              <a:t>("Distribution of Car prices")</a:t>
            </a:r>
            <a:r>
              <a:rPr lang="en-US" sz="2400" dirty="0" err="1"/>
              <a:t>plt.xlabel</a:t>
            </a:r>
            <a:r>
              <a:rPr lang="en-US" sz="2400" dirty="0"/>
              <a:t>('Price')</a:t>
            </a:r>
            <a:r>
              <a:rPr lang="en-US" sz="2400" dirty="0" err="1"/>
              <a:t>plt.ylabel</a:t>
            </a:r>
            <a:r>
              <a:rPr lang="en-US" sz="2400" dirty="0"/>
              <a:t>('Frequency')</a:t>
            </a:r>
            <a:r>
              <a:rPr lang="en-US" sz="2400" dirty="0" err="1"/>
              <a:t>plt.show</a:t>
            </a:r>
            <a:r>
              <a:rPr lang="en-US" sz="2400" dirty="0"/>
              <a:t>()”</a:t>
            </a:r>
          </a:p>
        </p:txBody>
      </p:sp>
    </p:spTree>
    <p:extLst>
      <p:ext uri="{BB962C8B-B14F-4D97-AF65-F5344CB8AC3E}">
        <p14:creationId xmlns:p14="http://schemas.microsoft.com/office/powerpoint/2010/main" val="186071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6E760-624B-224C-7B89-D753866FEE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7FA7D8-D51B-7E2C-E2A5-29B084CEFA1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A0FC00BE-0F47-1E75-1CF1-05FE7EFAB7AE}"/>
              </a:ext>
            </a:extLst>
          </p:cNvPr>
          <p:cNvPicPr>
            <a:picLocks noChangeAspect="1"/>
          </p:cNvPicPr>
          <p:nvPr/>
        </p:nvPicPr>
        <p:blipFill>
          <a:blip r:embed="rId2"/>
          <a:stretch>
            <a:fillRect/>
          </a:stretch>
        </p:blipFill>
        <p:spPr>
          <a:xfrm>
            <a:off x="685332" y="671381"/>
            <a:ext cx="7094102" cy="5755332"/>
          </a:xfrm>
          <a:prstGeom prst="rect">
            <a:avLst/>
          </a:prstGeom>
        </p:spPr>
      </p:pic>
    </p:spTree>
    <p:extLst>
      <p:ext uri="{BB962C8B-B14F-4D97-AF65-F5344CB8AC3E}">
        <p14:creationId xmlns:p14="http://schemas.microsoft.com/office/powerpoint/2010/main" val="908151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73811-3865-F8DA-3629-732118AF86C0}"/>
              </a:ext>
            </a:extLst>
          </p:cNvPr>
          <p:cNvSpPr>
            <a:spLocks noGrp="1"/>
          </p:cNvSpPr>
          <p:nvPr>
            <p:ph type="title"/>
          </p:nvPr>
        </p:nvSpPr>
        <p:spPr>
          <a:xfrm>
            <a:off x="235166" y="268710"/>
            <a:ext cx="7773338" cy="1596177"/>
          </a:xfrm>
        </p:spPr>
        <p:txBody>
          <a:bodyPr/>
          <a:lstStyle/>
          <a:p>
            <a:r>
              <a:rPr lang="en-US" sz="6000" dirty="0"/>
              <a:t>DESCRIPTION</a:t>
            </a:r>
            <a:r>
              <a:rPr lang="en-US" dirty="0"/>
              <a:t> </a:t>
            </a:r>
          </a:p>
        </p:txBody>
      </p:sp>
      <p:sp>
        <p:nvSpPr>
          <p:cNvPr id="3" name="Content Placeholder 2">
            <a:extLst>
              <a:ext uri="{FF2B5EF4-FFF2-40B4-BE49-F238E27FC236}">
                <a16:creationId xmlns:a16="http://schemas.microsoft.com/office/drawing/2014/main" id="{18C332EE-159E-9EDE-6864-F39C2E821CCB}"/>
              </a:ext>
            </a:extLst>
          </p:cNvPr>
          <p:cNvSpPr>
            <a:spLocks noGrp="1"/>
          </p:cNvSpPr>
          <p:nvPr>
            <p:ph idx="1"/>
          </p:nvPr>
        </p:nvSpPr>
        <p:spPr>
          <a:xfrm>
            <a:off x="235166" y="1864887"/>
            <a:ext cx="8289856" cy="4127950"/>
          </a:xfrm>
        </p:spPr>
        <p:txBody>
          <a:bodyPr>
            <a:normAutofit fontScale="92500" lnSpcReduction="20000"/>
          </a:bodyPr>
          <a:lstStyle/>
          <a:p>
            <a:r>
              <a:rPr lang="en-US" dirty="0"/>
              <a:t>The histogram above illustrates the </a:t>
            </a:r>
            <a:r>
              <a:rPr lang="en-US" b="1" dirty="0"/>
              <a:t>frequency distribution of car prices</a:t>
            </a:r>
            <a:r>
              <a:rPr lang="en-US" dirty="0"/>
              <a:t> within the dataset. Key observations include:</a:t>
            </a:r>
          </a:p>
          <a:p>
            <a:r>
              <a:rPr lang="en-US" dirty="0"/>
              <a:t>A </a:t>
            </a:r>
            <a:r>
              <a:rPr lang="en-US" b="1" dirty="0"/>
              <a:t>large concentration of vehicles</a:t>
            </a:r>
            <a:r>
              <a:rPr lang="en-US" dirty="0"/>
              <a:t> falls within the </a:t>
            </a:r>
            <a:r>
              <a:rPr lang="en-US" b="1" dirty="0"/>
              <a:t>₹5,000 to ₹15,000</a:t>
            </a:r>
            <a:r>
              <a:rPr lang="en-US" dirty="0"/>
              <a:t> price range, as indicated by the tall bars on the left.</a:t>
            </a:r>
          </a:p>
          <a:p>
            <a:r>
              <a:rPr lang="en-US" dirty="0"/>
              <a:t>The distribution exhibits a </a:t>
            </a:r>
            <a:r>
              <a:rPr lang="en-US" b="1" dirty="0"/>
              <a:t>positive skew (right-skewed)</a:t>
            </a:r>
            <a:r>
              <a:rPr lang="en-US" dirty="0"/>
              <a:t>, where </a:t>
            </a:r>
            <a:r>
              <a:rPr lang="en-US" b="1" dirty="0"/>
              <a:t>fewer vehicles</a:t>
            </a:r>
            <a:r>
              <a:rPr lang="en-US" dirty="0"/>
              <a:t> are found in the </a:t>
            </a:r>
            <a:r>
              <a:rPr lang="en-US" b="1" dirty="0"/>
              <a:t>higher price ranges</a:t>
            </a:r>
            <a:r>
              <a:rPr lang="en-US" dirty="0"/>
              <a:t>, especially beyond ₹30,000.</a:t>
            </a:r>
          </a:p>
          <a:p>
            <a:r>
              <a:rPr lang="en-US" dirty="0"/>
              <a:t>The </a:t>
            </a:r>
            <a:r>
              <a:rPr lang="en-US" b="1" dirty="0"/>
              <a:t>KDE (Kernel Density Estimate) curve</a:t>
            </a:r>
            <a:r>
              <a:rPr lang="en-US" dirty="0"/>
              <a:t> emphasizes this skewness, highlighting a </a:t>
            </a:r>
            <a:r>
              <a:rPr lang="en-US" b="1" dirty="0"/>
              <a:t>gradual decline in vehicle count</a:t>
            </a:r>
            <a:r>
              <a:rPr lang="en-US" dirty="0"/>
              <a:t> as price increases.</a:t>
            </a:r>
          </a:p>
          <a:p>
            <a:r>
              <a:rPr lang="en-US" dirty="0"/>
              <a:t>The long right tail suggests the presence of </a:t>
            </a:r>
            <a:r>
              <a:rPr lang="en-US" b="1" dirty="0"/>
              <a:t>high-priced outliers</a:t>
            </a:r>
            <a:r>
              <a:rPr lang="en-US" dirty="0"/>
              <a:t>, which could represent </a:t>
            </a:r>
            <a:r>
              <a:rPr lang="en-US" b="1" dirty="0"/>
              <a:t>premium or luxury car models</a:t>
            </a:r>
            <a:r>
              <a:rPr lang="en-US" dirty="0"/>
              <a:t>.</a:t>
            </a:r>
          </a:p>
          <a:p>
            <a:endParaRPr lang="en-US" dirty="0"/>
          </a:p>
        </p:txBody>
      </p:sp>
    </p:spTree>
    <p:extLst>
      <p:ext uri="{BB962C8B-B14F-4D97-AF65-F5344CB8AC3E}">
        <p14:creationId xmlns:p14="http://schemas.microsoft.com/office/powerpoint/2010/main" val="201032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A298-36ED-A26A-C9C7-CE010F6D6601}"/>
              </a:ext>
            </a:extLst>
          </p:cNvPr>
          <p:cNvSpPr>
            <a:spLocks noGrp="1"/>
          </p:cNvSpPr>
          <p:nvPr>
            <p:ph type="title"/>
          </p:nvPr>
        </p:nvSpPr>
        <p:spPr/>
        <p:txBody>
          <a:bodyPr>
            <a:normAutofit/>
          </a:bodyPr>
          <a:lstStyle/>
          <a:p>
            <a:r>
              <a:rPr lang="en-US" sz="6000" dirty="0"/>
              <a:t>INSIGHT </a:t>
            </a:r>
          </a:p>
        </p:txBody>
      </p:sp>
      <p:sp>
        <p:nvSpPr>
          <p:cNvPr id="3" name="Content Placeholder 2">
            <a:extLst>
              <a:ext uri="{FF2B5EF4-FFF2-40B4-BE49-F238E27FC236}">
                <a16:creationId xmlns:a16="http://schemas.microsoft.com/office/drawing/2014/main" id="{AEFAC495-D737-1E25-973E-09DFC921A18F}"/>
              </a:ext>
            </a:extLst>
          </p:cNvPr>
          <p:cNvSpPr>
            <a:spLocks noGrp="1"/>
          </p:cNvSpPr>
          <p:nvPr>
            <p:ph idx="1"/>
          </p:nvPr>
        </p:nvSpPr>
        <p:spPr/>
        <p:txBody>
          <a:bodyPr>
            <a:normAutofit/>
          </a:bodyPr>
          <a:lstStyle/>
          <a:p>
            <a:r>
              <a:rPr lang="en-US" sz="2400" dirty="0"/>
              <a:t>Due to the skewed nature of the distribution, it may be beneficial to apply a </a:t>
            </a:r>
            <a:r>
              <a:rPr lang="en-US" sz="2400" b="1" dirty="0"/>
              <a:t>log transformation</a:t>
            </a:r>
            <a:r>
              <a:rPr lang="en-US" sz="2400" dirty="0"/>
              <a:t> to the price feature before feeding it into predictive models, as this can help normalize the data and improve model accuracy.</a:t>
            </a:r>
          </a:p>
        </p:txBody>
      </p:sp>
    </p:spTree>
    <p:extLst>
      <p:ext uri="{BB962C8B-B14F-4D97-AF65-F5344CB8AC3E}">
        <p14:creationId xmlns:p14="http://schemas.microsoft.com/office/powerpoint/2010/main" val="3762758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F32A-9EB9-DF54-00C3-E5192FBE5273}"/>
              </a:ext>
            </a:extLst>
          </p:cNvPr>
          <p:cNvSpPr>
            <a:spLocks noGrp="1"/>
          </p:cNvSpPr>
          <p:nvPr>
            <p:ph type="title"/>
          </p:nvPr>
        </p:nvSpPr>
        <p:spPr/>
        <p:txBody>
          <a:bodyPr>
            <a:normAutofit/>
          </a:bodyPr>
          <a:lstStyle/>
          <a:p>
            <a:r>
              <a:rPr lang="en-US" sz="6000" dirty="0"/>
              <a:t>BOX PLOT </a:t>
            </a:r>
          </a:p>
        </p:txBody>
      </p:sp>
      <p:sp>
        <p:nvSpPr>
          <p:cNvPr id="3" name="Content Placeholder 2">
            <a:extLst>
              <a:ext uri="{FF2B5EF4-FFF2-40B4-BE49-F238E27FC236}">
                <a16:creationId xmlns:a16="http://schemas.microsoft.com/office/drawing/2014/main" id="{424B053D-2882-C80E-75B3-85AC70D8C56C}"/>
              </a:ext>
            </a:extLst>
          </p:cNvPr>
          <p:cNvSpPr>
            <a:spLocks noGrp="1"/>
          </p:cNvSpPr>
          <p:nvPr>
            <p:ph idx="1"/>
          </p:nvPr>
        </p:nvSpPr>
        <p:spPr/>
        <p:txBody>
          <a:bodyPr>
            <a:normAutofit/>
          </a:bodyPr>
          <a:lstStyle/>
          <a:p>
            <a:r>
              <a:rPr lang="en-US" sz="2800" dirty="0"/>
              <a:t>A Box Plot (also called a box-and-whisker plot) is a statistical graph that shows the distribution of a dataset based on five summary statistics</a:t>
            </a:r>
          </a:p>
          <a:p>
            <a:endParaRPr lang="en-US" sz="2800" dirty="0"/>
          </a:p>
          <a:p>
            <a:r>
              <a:rPr lang="en-US" sz="2800" dirty="0"/>
              <a:t>SYNTAX: “</a:t>
            </a:r>
            <a:r>
              <a:rPr lang="en-US" sz="2800" dirty="0" err="1"/>
              <a:t>sns.boxplot</a:t>
            </a:r>
            <a:r>
              <a:rPr lang="en-US" sz="2800" dirty="0"/>
              <a:t>(data['price’])”</a:t>
            </a:r>
          </a:p>
        </p:txBody>
      </p:sp>
    </p:spTree>
    <p:extLst>
      <p:ext uri="{BB962C8B-B14F-4D97-AF65-F5344CB8AC3E}">
        <p14:creationId xmlns:p14="http://schemas.microsoft.com/office/powerpoint/2010/main" val="2849127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2769D-F06B-33B4-7D65-B4CC80D5D3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AC9E5E-385D-1C8D-D982-4D5FE7A6465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E8A709E-79E3-2039-4DE3-120A19F76167}"/>
              </a:ext>
            </a:extLst>
          </p:cNvPr>
          <p:cNvPicPr>
            <a:picLocks noChangeAspect="1"/>
          </p:cNvPicPr>
          <p:nvPr/>
        </p:nvPicPr>
        <p:blipFill>
          <a:blip r:embed="rId2"/>
          <a:stretch>
            <a:fillRect/>
          </a:stretch>
        </p:blipFill>
        <p:spPr>
          <a:xfrm>
            <a:off x="425547" y="414468"/>
            <a:ext cx="7396089" cy="5743175"/>
          </a:xfrm>
          <a:prstGeom prst="rect">
            <a:avLst/>
          </a:prstGeom>
        </p:spPr>
      </p:pic>
    </p:spTree>
    <p:extLst>
      <p:ext uri="{BB962C8B-B14F-4D97-AF65-F5344CB8AC3E}">
        <p14:creationId xmlns:p14="http://schemas.microsoft.com/office/powerpoint/2010/main" val="3424549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21CE6-F2E3-7292-3EA8-A6F7EA3101A5}"/>
              </a:ext>
            </a:extLst>
          </p:cNvPr>
          <p:cNvSpPr>
            <a:spLocks noGrp="1"/>
          </p:cNvSpPr>
          <p:nvPr>
            <p:ph type="title"/>
          </p:nvPr>
        </p:nvSpPr>
        <p:spPr>
          <a:xfrm>
            <a:off x="263301" y="268710"/>
            <a:ext cx="7773338" cy="1596177"/>
          </a:xfrm>
        </p:spPr>
        <p:txBody>
          <a:bodyPr/>
          <a:lstStyle/>
          <a:p>
            <a:r>
              <a:rPr lang="en-US" sz="6000" dirty="0"/>
              <a:t>DESCRIPTION</a:t>
            </a:r>
            <a:r>
              <a:rPr lang="en-US" dirty="0"/>
              <a:t> </a:t>
            </a:r>
          </a:p>
        </p:txBody>
      </p:sp>
      <p:sp>
        <p:nvSpPr>
          <p:cNvPr id="3" name="Content Placeholder 2">
            <a:extLst>
              <a:ext uri="{FF2B5EF4-FFF2-40B4-BE49-F238E27FC236}">
                <a16:creationId xmlns:a16="http://schemas.microsoft.com/office/drawing/2014/main" id="{F573BECA-CC0B-AA96-DF3A-4C4F59FBA206}"/>
              </a:ext>
            </a:extLst>
          </p:cNvPr>
          <p:cNvSpPr>
            <a:spLocks noGrp="1"/>
          </p:cNvSpPr>
          <p:nvPr>
            <p:ph idx="1"/>
          </p:nvPr>
        </p:nvSpPr>
        <p:spPr>
          <a:xfrm>
            <a:off x="263301" y="1685729"/>
            <a:ext cx="8388330" cy="4504056"/>
          </a:xfrm>
        </p:spPr>
        <p:txBody>
          <a:bodyPr>
            <a:normAutofit fontScale="92500" lnSpcReduction="20000"/>
          </a:bodyPr>
          <a:lstStyle/>
          <a:p>
            <a:r>
              <a:rPr lang="en-US" dirty="0"/>
              <a:t>The box plot provides a summary of the </a:t>
            </a:r>
            <a:r>
              <a:rPr lang="en-US" b="1" dirty="0"/>
              <a:t>distribution of car prices</a:t>
            </a:r>
            <a:r>
              <a:rPr lang="en-US" dirty="0"/>
              <a:t> in the dataset using five key statistics:</a:t>
            </a:r>
          </a:p>
          <a:p>
            <a:r>
              <a:rPr lang="en-US" dirty="0"/>
              <a:t>The </a:t>
            </a:r>
            <a:r>
              <a:rPr lang="en-US" b="1" dirty="0"/>
              <a:t>box</a:t>
            </a:r>
            <a:r>
              <a:rPr lang="en-US" dirty="0"/>
              <a:t> represents the </a:t>
            </a:r>
            <a:r>
              <a:rPr lang="en-US" b="1" dirty="0"/>
              <a:t>interquartile range (IQR)</a:t>
            </a:r>
            <a:r>
              <a:rPr lang="en-US" dirty="0"/>
              <a:t>, where the middle 50% of the car prices lie — roughly between </a:t>
            </a:r>
            <a:r>
              <a:rPr lang="en-US" b="1" dirty="0"/>
              <a:t>₹8,000 and ₹18,000</a:t>
            </a:r>
            <a:r>
              <a:rPr lang="en-US" dirty="0"/>
              <a:t>.</a:t>
            </a:r>
          </a:p>
          <a:p>
            <a:r>
              <a:rPr lang="en-US" dirty="0"/>
              <a:t>The </a:t>
            </a:r>
            <a:r>
              <a:rPr lang="en-US" b="1" dirty="0"/>
              <a:t>line inside the box</a:t>
            </a:r>
            <a:r>
              <a:rPr lang="en-US" dirty="0"/>
              <a:t> indicates the </a:t>
            </a:r>
            <a:r>
              <a:rPr lang="en-US" b="1" dirty="0"/>
              <a:t>median price</a:t>
            </a:r>
            <a:r>
              <a:rPr lang="en-US" dirty="0"/>
              <a:t>, which appears to be around </a:t>
            </a:r>
            <a:r>
              <a:rPr lang="en-US" b="1" dirty="0"/>
              <a:t>₹11,000</a:t>
            </a:r>
            <a:r>
              <a:rPr lang="en-US" dirty="0"/>
              <a:t>, suggesting that half of the cars cost less than this amount.</a:t>
            </a:r>
          </a:p>
          <a:p>
            <a:r>
              <a:rPr lang="en-US" dirty="0"/>
              <a:t>The </a:t>
            </a:r>
            <a:r>
              <a:rPr lang="en-US" b="1" dirty="0"/>
              <a:t>"whiskers"</a:t>
            </a:r>
            <a:r>
              <a:rPr lang="en-US" dirty="0"/>
              <a:t> extend to the lowest and highest values within 1.5×IQR — beyond this range, data points are considered </a:t>
            </a:r>
            <a:r>
              <a:rPr lang="en-US" b="1" dirty="0"/>
              <a:t>outliers</a:t>
            </a:r>
            <a:r>
              <a:rPr lang="en-US" dirty="0"/>
              <a:t>.</a:t>
            </a:r>
          </a:p>
          <a:p>
            <a:r>
              <a:rPr lang="en-US" dirty="0"/>
              <a:t>The </a:t>
            </a:r>
            <a:r>
              <a:rPr lang="en-US" b="1" dirty="0"/>
              <a:t>dots above the upper whisker</a:t>
            </a:r>
            <a:r>
              <a:rPr lang="en-US" dirty="0"/>
              <a:t> represent </a:t>
            </a:r>
            <a:r>
              <a:rPr lang="en-US" b="1" dirty="0"/>
              <a:t>outliers</a:t>
            </a:r>
            <a:r>
              <a:rPr lang="en-US" dirty="0"/>
              <a:t> — these are high-priced vehicles exceeding ₹27,000, likely </a:t>
            </a:r>
            <a:r>
              <a:rPr lang="en-US" b="1" dirty="0"/>
              <a:t>premium or luxury cars</a:t>
            </a:r>
            <a:r>
              <a:rPr lang="en-US" dirty="0"/>
              <a:t>.</a:t>
            </a:r>
          </a:p>
          <a:p>
            <a:r>
              <a:rPr lang="en-US" dirty="0"/>
              <a:t>.</a:t>
            </a:r>
          </a:p>
          <a:p>
            <a:endParaRPr lang="en-US" dirty="0"/>
          </a:p>
        </p:txBody>
      </p:sp>
    </p:spTree>
    <p:extLst>
      <p:ext uri="{BB962C8B-B14F-4D97-AF65-F5344CB8AC3E}">
        <p14:creationId xmlns:p14="http://schemas.microsoft.com/office/powerpoint/2010/main" val="1957148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E3F23-2CED-6F1A-DAEF-8AC46F2CE1CF}"/>
              </a:ext>
            </a:extLst>
          </p:cNvPr>
          <p:cNvSpPr>
            <a:spLocks noGrp="1"/>
          </p:cNvSpPr>
          <p:nvPr>
            <p:ph type="title"/>
          </p:nvPr>
        </p:nvSpPr>
        <p:spPr/>
        <p:txBody>
          <a:bodyPr/>
          <a:lstStyle/>
          <a:p>
            <a:r>
              <a:rPr lang="en-US" sz="6000" dirty="0"/>
              <a:t>INSIGHT</a:t>
            </a:r>
            <a:r>
              <a:rPr lang="en-US" dirty="0"/>
              <a:t> </a:t>
            </a:r>
          </a:p>
        </p:txBody>
      </p:sp>
      <p:sp>
        <p:nvSpPr>
          <p:cNvPr id="3" name="Content Placeholder 2">
            <a:extLst>
              <a:ext uri="{FF2B5EF4-FFF2-40B4-BE49-F238E27FC236}">
                <a16:creationId xmlns:a16="http://schemas.microsoft.com/office/drawing/2014/main" id="{FFE613F5-9784-4F9B-A712-E7820DCAF328}"/>
              </a:ext>
            </a:extLst>
          </p:cNvPr>
          <p:cNvSpPr>
            <a:spLocks noGrp="1"/>
          </p:cNvSpPr>
          <p:nvPr>
            <p:ph idx="1"/>
          </p:nvPr>
        </p:nvSpPr>
        <p:spPr/>
        <p:txBody>
          <a:bodyPr>
            <a:normAutofit/>
          </a:bodyPr>
          <a:lstStyle/>
          <a:p>
            <a:r>
              <a:rPr lang="en-US" sz="2400" dirty="0"/>
              <a:t>This visualization highlights that while most cars are priced in a moderate range, there are a few significantly higher-priced outliers that may need special handling during model training.</a:t>
            </a:r>
          </a:p>
        </p:txBody>
      </p:sp>
    </p:spTree>
    <p:extLst>
      <p:ext uri="{BB962C8B-B14F-4D97-AF65-F5344CB8AC3E}">
        <p14:creationId xmlns:p14="http://schemas.microsoft.com/office/powerpoint/2010/main" val="19466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023B-8D5C-BC41-41D1-DDA360B24A5F}"/>
              </a:ext>
            </a:extLst>
          </p:cNvPr>
          <p:cNvSpPr>
            <a:spLocks noGrp="1"/>
          </p:cNvSpPr>
          <p:nvPr>
            <p:ph type="title"/>
          </p:nvPr>
        </p:nvSpPr>
        <p:spPr/>
        <p:txBody>
          <a:bodyPr>
            <a:normAutofit/>
          </a:bodyPr>
          <a:lstStyle/>
          <a:p>
            <a:r>
              <a:rPr lang="en-US" sz="6000" dirty="0"/>
              <a:t>SCATTER PLOT </a:t>
            </a:r>
          </a:p>
        </p:txBody>
      </p:sp>
      <p:sp>
        <p:nvSpPr>
          <p:cNvPr id="3" name="Content Placeholder 2">
            <a:extLst>
              <a:ext uri="{FF2B5EF4-FFF2-40B4-BE49-F238E27FC236}">
                <a16:creationId xmlns:a16="http://schemas.microsoft.com/office/drawing/2014/main" id="{6F27A94C-B5FC-4965-50CD-5ED6020B43BB}"/>
              </a:ext>
            </a:extLst>
          </p:cNvPr>
          <p:cNvSpPr>
            <a:spLocks noGrp="1"/>
          </p:cNvSpPr>
          <p:nvPr>
            <p:ph idx="1"/>
          </p:nvPr>
        </p:nvSpPr>
        <p:spPr/>
        <p:txBody>
          <a:bodyPr>
            <a:normAutofit/>
          </a:bodyPr>
          <a:lstStyle/>
          <a:p>
            <a:r>
              <a:rPr lang="en-US" sz="2400" dirty="0"/>
              <a:t>A scatter plot is a type of data visualization used to show the relationship between two numerical variables. Each point on the graph represents one observation.</a:t>
            </a:r>
          </a:p>
          <a:p>
            <a:endParaRPr lang="en-US" sz="2400" dirty="0"/>
          </a:p>
          <a:p>
            <a:r>
              <a:rPr lang="en-US" sz="2400" dirty="0"/>
              <a:t>SYNTAX: “</a:t>
            </a:r>
            <a:r>
              <a:rPr lang="en-US" sz="2400" dirty="0" err="1"/>
              <a:t>sns.scatterplot</a:t>
            </a:r>
            <a:r>
              <a:rPr lang="en-US" sz="2400" dirty="0"/>
              <a:t>(x = 'horsepower', y = 'price', data=data)”</a:t>
            </a:r>
          </a:p>
        </p:txBody>
      </p:sp>
    </p:spTree>
    <p:extLst>
      <p:ext uri="{BB962C8B-B14F-4D97-AF65-F5344CB8AC3E}">
        <p14:creationId xmlns:p14="http://schemas.microsoft.com/office/powerpoint/2010/main" val="477506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00DB-9B99-5A61-1458-CF612CB1A9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2D45E2-906C-BEB0-9605-5CC5B006D6E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5C21408-9969-4D33-96D1-1F68811EAA9B}"/>
              </a:ext>
            </a:extLst>
          </p:cNvPr>
          <p:cNvPicPr>
            <a:picLocks noChangeAspect="1"/>
          </p:cNvPicPr>
          <p:nvPr/>
        </p:nvPicPr>
        <p:blipFill>
          <a:blip r:embed="rId2"/>
          <a:stretch>
            <a:fillRect/>
          </a:stretch>
        </p:blipFill>
        <p:spPr>
          <a:xfrm>
            <a:off x="357113" y="276357"/>
            <a:ext cx="8119587" cy="6068172"/>
          </a:xfrm>
          <a:prstGeom prst="rect">
            <a:avLst/>
          </a:prstGeom>
        </p:spPr>
      </p:pic>
    </p:spTree>
    <p:extLst>
      <p:ext uri="{BB962C8B-B14F-4D97-AF65-F5344CB8AC3E}">
        <p14:creationId xmlns:p14="http://schemas.microsoft.com/office/powerpoint/2010/main" val="3005239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485A4-F070-264B-B998-71469249717F}"/>
              </a:ext>
            </a:extLst>
          </p:cNvPr>
          <p:cNvSpPr>
            <a:spLocks noGrp="1"/>
          </p:cNvSpPr>
          <p:nvPr>
            <p:ph type="title"/>
          </p:nvPr>
        </p:nvSpPr>
        <p:spPr/>
        <p:txBody>
          <a:bodyPr>
            <a:normAutofit/>
          </a:bodyPr>
          <a:lstStyle/>
          <a:p>
            <a:r>
              <a:rPr lang="en-US" sz="6000" dirty="0"/>
              <a:t>DESCRIPTION</a:t>
            </a:r>
          </a:p>
        </p:txBody>
      </p:sp>
      <p:sp>
        <p:nvSpPr>
          <p:cNvPr id="3" name="Content Placeholder 2">
            <a:extLst>
              <a:ext uri="{FF2B5EF4-FFF2-40B4-BE49-F238E27FC236}">
                <a16:creationId xmlns:a16="http://schemas.microsoft.com/office/drawing/2014/main" id="{30EAB159-5623-7043-DFC1-594AB715DFA4}"/>
              </a:ext>
            </a:extLst>
          </p:cNvPr>
          <p:cNvSpPr>
            <a:spLocks noGrp="1"/>
          </p:cNvSpPr>
          <p:nvPr>
            <p:ph idx="1"/>
          </p:nvPr>
        </p:nvSpPr>
        <p:spPr>
          <a:xfrm>
            <a:off x="379829" y="2367094"/>
            <a:ext cx="8078842" cy="4216586"/>
          </a:xfrm>
        </p:spPr>
        <p:txBody>
          <a:bodyPr>
            <a:normAutofit fontScale="62500" lnSpcReduction="20000"/>
          </a:bodyPr>
          <a:lstStyle/>
          <a:p>
            <a:r>
              <a:rPr lang="en-US" sz="3200" dirty="0"/>
              <a:t>The scatter plot visualizes the relationship between </a:t>
            </a:r>
            <a:r>
              <a:rPr lang="en-US" sz="3200" b="1" dirty="0"/>
              <a:t>horsepower</a:t>
            </a:r>
            <a:r>
              <a:rPr lang="en-US" sz="3200" dirty="0"/>
              <a:t> (x-axis) and </a:t>
            </a:r>
            <a:r>
              <a:rPr lang="en-US" sz="3200" b="1" dirty="0"/>
              <a:t>car price</a:t>
            </a:r>
            <a:r>
              <a:rPr lang="en-US" sz="3200" dirty="0"/>
              <a:t> (y-axis) in the dataset.</a:t>
            </a:r>
          </a:p>
          <a:p>
            <a:r>
              <a:rPr lang="en-US" sz="3200" dirty="0"/>
              <a:t>Each dot represents a </a:t>
            </a:r>
            <a:r>
              <a:rPr lang="en-US" sz="3200" b="1" dirty="0"/>
              <a:t>single car</a:t>
            </a:r>
            <a:r>
              <a:rPr lang="en-US" sz="3200" dirty="0"/>
              <a:t>, with its horsepower and corresponding price.</a:t>
            </a:r>
          </a:p>
          <a:p>
            <a:r>
              <a:rPr lang="en-US" sz="3200" dirty="0"/>
              <a:t>The points exhibit a </a:t>
            </a:r>
            <a:r>
              <a:rPr lang="en-US" sz="3200" b="1" dirty="0"/>
              <a:t>positive linear trend</a:t>
            </a:r>
            <a:r>
              <a:rPr lang="en-US" sz="3200" dirty="0"/>
              <a:t>, indicating that as </a:t>
            </a:r>
            <a:r>
              <a:rPr lang="en-US" sz="3200" b="1" dirty="0"/>
              <a:t>horsepower increases, car price tends to rise</a:t>
            </a:r>
            <a:r>
              <a:rPr lang="en-US" sz="3200" dirty="0"/>
              <a:t>.</a:t>
            </a:r>
          </a:p>
          <a:p>
            <a:r>
              <a:rPr lang="en-US" sz="3200" dirty="0"/>
              <a:t>The plot shows a </a:t>
            </a:r>
            <a:r>
              <a:rPr lang="en-US" sz="3200" b="1" dirty="0"/>
              <a:t>strong correlation</a:t>
            </a:r>
            <a:r>
              <a:rPr lang="en-US" sz="3200" dirty="0"/>
              <a:t> between the two variables — </a:t>
            </a:r>
            <a:r>
              <a:rPr lang="en-US" sz="3200" b="1" dirty="0"/>
              <a:t>higher horsepower cars generally cost more</a:t>
            </a:r>
            <a:r>
              <a:rPr lang="en-US" sz="3200" dirty="0"/>
              <a:t>.</a:t>
            </a:r>
          </a:p>
          <a:p>
            <a:r>
              <a:rPr lang="en-US" sz="3200" dirty="0"/>
              <a:t>A few points toward the top-right corner represent </a:t>
            </a:r>
            <a:r>
              <a:rPr lang="en-US" sz="3200" b="1" dirty="0"/>
              <a:t>high-performance, high-cost vehicles</a:t>
            </a:r>
            <a:r>
              <a:rPr lang="en-US" sz="3200" dirty="0"/>
              <a:t>, which may be </a:t>
            </a:r>
            <a:r>
              <a:rPr lang="en-US" sz="3200" b="1" dirty="0"/>
              <a:t>outliers or luxury models</a:t>
            </a:r>
            <a:r>
              <a:rPr lang="en-US" sz="3200" dirty="0"/>
              <a:t>.</a:t>
            </a:r>
          </a:p>
          <a:p>
            <a:endParaRPr lang="en-US" dirty="0"/>
          </a:p>
        </p:txBody>
      </p:sp>
    </p:spTree>
    <p:extLst>
      <p:ext uri="{BB962C8B-B14F-4D97-AF65-F5344CB8AC3E}">
        <p14:creationId xmlns:p14="http://schemas.microsoft.com/office/powerpoint/2010/main" val="1530698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AD7B-7D21-FF24-2ACF-44B6A4D96A7F}"/>
              </a:ext>
            </a:extLst>
          </p:cNvPr>
          <p:cNvSpPr>
            <a:spLocks noGrp="1"/>
          </p:cNvSpPr>
          <p:nvPr>
            <p:ph type="title"/>
          </p:nvPr>
        </p:nvSpPr>
        <p:spPr/>
        <p:txBody>
          <a:bodyPr/>
          <a:lstStyle/>
          <a:p>
            <a:r>
              <a:rPr lang="en-US" sz="6000" dirty="0"/>
              <a:t>INSIGHT</a:t>
            </a:r>
            <a:r>
              <a:rPr lang="en-US" dirty="0"/>
              <a:t> </a:t>
            </a:r>
          </a:p>
        </p:txBody>
      </p:sp>
      <p:sp>
        <p:nvSpPr>
          <p:cNvPr id="3" name="Content Placeholder 2">
            <a:extLst>
              <a:ext uri="{FF2B5EF4-FFF2-40B4-BE49-F238E27FC236}">
                <a16:creationId xmlns:a16="http://schemas.microsoft.com/office/drawing/2014/main" id="{E3C80C05-D169-643C-8A46-06E672A499C0}"/>
              </a:ext>
            </a:extLst>
          </p:cNvPr>
          <p:cNvSpPr>
            <a:spLocks noGrp="1"/>
          </p:cNvSpPr>
          <p:nvPr>
            <p:ph idx="1"/>
          </p:nvPr>
        </p:nvSpPr>
        <p:spPr/>
        <p:txBody>
          <a:bodyPr/>
          <a:lstStyle/>
          <a:p>
            <a:r>
              <a:rPr lang="en-US" sz="2400" dirty="0"/>
              <a:t>There is a clear </a:t>
            </a:r>
            <a:r>
              <a:rPr lang="en-US" sz="2400" b="1" dirty="0"/>
              <a:t>positive correlation between horsepower and price</a:t>
            </a:r>
            <a:r>
              <a:rPr lang="en-US" sz="2400" dirty="0"/>
              <a:t>, suggesting that horsepower is a strong predictor of car price and should be included in the regression model.</a:t>
            </a:r>
          </a:p>
          <a:p>
            <a:endParaRPr lang="en-US" dirty="0"/>
          </a:p>
        </p:txBody>
      </p:sp>
    </p:spTree>
    <p:extLst>
      <p:ext uri="{BB962C8B-B14F-4D97-AF65-F5344CB8AC3E}">
        <p14:creationId xmlns:p14="http://schemas.microsoft.com/office/powerpoint/2010/main" val="3147841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A452-F2EA-A51A-B11F-8544F348F8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0A56BF-1C54-ABE3-D64B-A81042BE4B6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F42B00B-A961-BE8F-2F59-ECC1D34DF5C8}"/>
              </a:ext>
            </a:extLst>
          </p:cNvPr>
          <p:cNvPicPr>
            <a:picLocks noChangeAspect="1"/>
          </p:cNvPicPr>
          <p:nvPr/>
        </p:nvPicPr>
        <p:blipFill>
          <a:blip r:embed="rId2"/>
          <a:stretch>
            <a:fillRect/>
          </a:stretch>
        </p:blipFill>
        <p:spPr>
          <a:xfrm>
            <a:off x="292929" y="466857"/>
            <a:ext cx="7599045" cy="5785995"/>
          </a:xfrm>
          <a:prstGeom prst="rect">
            <a:avLst/>
          </a:prstGeom>
        </p:spPr>
      </p:pic>
    </p:spTree>
    <p:extLst>
      <p:ext uri="{BB962C8B-B14F-4D97-AF65-F5344CB8AC3E}">
        <p14:creationId xmlns:p14="http://schemas.microsoft.com/office/powerpoint/2010/main" val="2044973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E0FA-E67D-0856-7503-36CE269E300F}"/>
              </a:ext>
            </a:extLst>
          </p:cNvPr>
          <p:cNvSpPr>
            <a:spLocks noGrp="1"/>
          </p:cNvSpPr>
          <p:nvPr>
            <p:ph type="title"/>
          </p:nvPr>
        </p:nvSpPr>
        <p:spPr/>
        <p:txBody>
          <a:bodyPr>
            <a:normAutofit/>
          </a:bodyPr>
          <a:lstStyle/>
          <a:p>
            <a:r>
              <a:rPr lang="en-US" sz="6000" dirty="0"/>
              <a:t>DESCRIPTION</a:t>
            </a:r>
          </a:p>
        </p:txBody>
      </p:sp>
      <p:sp>
        <p:nvSpPr>
          <p:cNvPr id="3" name="Content Placeholder 2">
            <a:extLst>
              <a:ext uri="{FF2B5EF4-FFF2-40B4-BE49-F238E27FC236}">
                <a16:creationId xmlns:a16="http://schemas.microsoft.com/office/drawing/2014/main" id="{141C209F-A2B9-03DA-B0AA-1E0BB6427638}"/>
              </a:ext>
            </a:extLst>
          </p:cNvPr>
          <p:cNvSpPr>
            <a:spLocks noGrp="1"/>
          </p:cNvSpPr>
          <p:nvPr>
            <p:ph idx="1"/>
          </p:nvPr>
        </p:nvSpPr>
        <p:spPr>
          <a:xfrm>
            <a:off x="365761" y="2367094"/>
            <a:ext cx="8092910" cy="3872388"/>
          </a:xfrm>
        </p:spPr>
        <p:txBody>
          <a:bodyPr>
            <a:normAutofit fontScale="85000" lnSpcReduction="20000"/>
          </a:bodyPr>
          <a:lstStyle/>
          <a:p>
            <a:r>
              <a:rPr lang="en-US" dirty="0"/>
              <a:t>This scatter plot illustrates the relationship between a car’s </a:t>
            </a:r>
            <a:r>
              <a:rPr lang="en-US" b="1" dirty="0"/>
              <a:t>city mileage (mpg)</a:t>
            </a:r>
            <a:r>
              <a:rPr lang="en-US" dirty="0"/>
              <a:t> and its </a:t>
            </a:r>
            <a:r>
              <a:rPr lang="en-US" b="1" dirty="0"/>
              <a:t>price</a:t>
            </a:r>
            <a:r>
              <a:rPr lang="en-US" dirty="0"/>
              <a:t>:</a:t>
            </a:r>
          </a:p>
          <a:p>
            <a:r>
              <a:rPr lang="en-US" dirty="0"/>
              <a:t>The </a:t>
            </a:r>
            <a:r>
              <a:rPr lang="en-US" b="1" dirty="0"/>
              <a:t>x-axis</a:t>
            </a:r>
            <a:r>
              <a:rPr lang="en-US" dirty="0"/>
              <a:t> represents </a:t>
            </a:r>
            <a:r>
              <a:rPr lang="en-US" b="1" dirty="0"/>
              <a:t>city miles per gallon (</a:t>
            </a:r>
            <a:r>
              <a:rPr lang="en-US" b="1" dirty="0" err="1"/>
              <a:t>citympg</a:t>
            </a:r>
            <a:r>
              <a:rPr lang="en-US" b="1" dirty="0"/>
              <a:t>)</a:t>
            </a:r>
            <a:r>
              <a:rPr lang="en-US" dirty="0"/>
              <a:t>, while the </a:t>
            </a:r>
            <a:r>
              <a:rPr lang="en-US" b="1" dirty="0"/>
              <a:t>y-axis</a:t>
            </a:r>
            <a:r>
              <a:rPr lang="en-US" dirty="0"/>
              <a:t> represents the </a:t>
            </a:r>
            <a:r>
              <a:rPr lang="en-US" b="1" dirty="0"/>
              <a:t>car price</a:t>
            </a:r>
            <a:r>
              <a:rPr lang="en-US" dirty="0"/>
              <a:t>.</a:t>
            </a:r>
          </a:p>
          <a:p>
            <a:r>
              <a:rPr lang="en-US" dirty="0"/>
              <a:t>There is a clear </a:t>
            </a:r>
            <a:r>
              <a:rPr lang="en-US" b="1" dirty="0"/>
              <a:t>negative correlation</a:t>
            </a:r>
            <a:r>
              <a:rPr lang="en-US" dirty="0"/>
              <a:t>: as </a:t>
            </a:r>
            <a:r>
              <a:rPr lang="en-US" b="1" dirty="0"/>
              <a:t>city mileage increases</a:t>
            </a:r>
            <a:r>
              <a:rPr lang="en-US" dirty="0"/>
              <a:t>, the </a:t>
            </a:r>
            <a:r>
              <a:rPr lang="en-US" b="1" dirty="0"/>
              <a:t>price of the car tends to decrease</a:t>
            </a:r>
            <a:r>
              <a:rPr lang="en-US" dirty="0"/>
              <a:t>.</a:t>
            </a:r>
          </a:p>
          <a:p>
            <a:r>
              <a:rPr lang="en-US" dirty="0"/>
              <a:t>Cars with </a:t>
            </a:r>
            <a:r>
              <a:rPr lang="en-US" b="1" dirty="0"/>
              <a:t>lower mileage (10–20 mpg)</a:t>
            </a:r>
            <a:r>
              <a:rPr lang="en-US" dirty="0"/>
              <a:t> are generally </a:t>
            </a:r>
            <a:r>
              <a:rPr lang="en-US" b="1" dirty="0"/>
              <a:t>more expensive</a:t>
            </a:r>
            <a:r>
              <a:rPr lang="en-US" dirty="0"/>
              <a:t>, suggesting they are </a:t>
            </a:r>
            <a:r>
              <a:rPr lang="en-US" b="1" dirty="0"/>
              <a:t>high-performance or luxury models</a:t>
            </a:r>
            <a:r>
              <a:rPr lang="en-US" dirty="0"/>
              <a:t>.</a:t>
            </a:r>
          </a:p>
          <a:p>
            <a:r>
              <a:rPr lang="en-US" dirty="0"/>
              <a:t>Conversely, cars with </a:t>
            </a:r>
            <a:r>
              <a:rPr lang="en-US" b="1" dirty="0"/>
              <a:t>higher mileage (above 30 mpg)</a:t>
            </a:r>
            <a:r>
              <a:rPr lang="en-US" dirty="0"/>
              <a:t> are mostly </a:t>
            </a:r>
            <a:r>
              <a:rPr lang="en-US" b="1" dirty="0"/>
              <a:t>lower-priced</a:t>
            </a:r>
            <a:r>
              <a:rPr lang="en-US" dirty="0"/>
              <a:t>, which is typical of </a:t>
            </a:r>
            <a:r>
              <a:rPr lang="en-US" b="1" dirty="0"/>
              <a:t>economy vehicles</a:t>
            </a:r>
            <a:r>
              <a:rPr lang="en-US" dirty="0"/>
              <a:t>.</a:t>
            </a:r>
          </a:p>
          <a:p>
            <a:r>
              <a:rPr lang="en-US" dirty="0"/>
              <a:t>The pattern also reveals </a:t>
            </a:r>
            <a:r>
              <a:rPr lang="en-US" b="1" dirty="0"/>
              <a:t>clusters of lower-priced, fuel-efficient cars</a:t>
            </a:r>
            <a:r>
              <a:rPr lang="en-US" dirty="0"/>
              <a:t>, and a few </a:t>
            </a:r>
            <a:r>
              <a:rPr lang="en-US" b="1" dirty="0"/>
              <a:t>high-cost low-mileage outliers</a:t>
            </a:r>
            <a:r>
              <a:rPr lang="en-US" dirty="0"/>
              <a:t>.</a:t>
            </a:r>
          </a:p>
          <a:p>
            <a:endParaRPr lang="en-US" dirty="0"/>
          </a:p>
        </p:txBody>
      </p:sp>
    </p:spTree>
    <p:extLst>
      <p:ext uri="{BB962C8B-B14F-4D97-AF65-F5344CB8AC3E}">
        <p14:creationId xmlns:p14="http://schemas.microsoft.com/office/powerpoint/2010/main" val="2269630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C9B99-A383-4937-D6FB-E1341E406A02}"/>
              </a:ext>
            </a:extLst>
          </p:cNvPr>
          <p:cNvSpPr>
            <a:spLocks noGrp="1"/>
          </p:cNvSpPr>
          <p:nvPr>
            <p:ph type="title"/>
          </p:nvPr>
        </p:nvSpPr>
        <p:spPr/>
        <p:txBody>
          <a:bodyPr>
            <a:normAutofit/>
          </a:bodyPr>
          <a:lstStyle/>
          <a:p>
            <a:r>
              <a:rPr lang="en-US" sz="6000" dirty="0"/>
              <a:t>INSIGHT</a:t>
            </a:r>
          </a:p>
        </p:txBody>
      </p:sp>
      <p:sp>
        <p:nvSpPr>
          <p:cNvPr id="3" name="Content Placeholder 2">
            <a:extLst>
              <a:ext uri="{FF2B5EF4-FFF2-40B4-BE49-F238E27FC236}">
                <a16:creationId xmlns:a16="http://schemas.microsoft.com/office/drawing/2014/main" id="{998CB98E-683D-42B6-50F2-21CF30566FC9}"/>
              </a:ext>
            </a:extLst>
          </p:cNvPr>
          <p:cNvSpPr>
            <a:spLocks noGrp="1"/>
          </p:cNvSpPr>
          <p:nvPr>
            <p:ph idx="1"/>
          </p:nvPr>
        </p:nvSpPr>
        <p:spPr/>
        <p:txBody>
          <a:bodyPr>
            <a:normAutofit/>
          </a:bodyPr>
          <a:lstStyle/>
          <a:p>
            <a:r>
              <a:rPr lang="en-US" sz="2400" dirty="0"/>
              <a:t>This inverse relationship indicates that </a:t>
            </a:r>
            <a:r>
              <a:rPr lang="en-US" sz="2400" b="1" dirty="0"/>
              <a:t>fuel efficiency is a significant factor in pricing</a:t>
            </a:r>
            <a:r>
              <a:rPr lang="en-US" sz="2400" dirty="0"/>
              <a:t> — higher efficiency usually comes with lower cost. City mileage can be a useful feature in predicting car prices.</a:t>
            </a:r>
          </a:p>
        </p:txBody>
      </p:sp>
    </p:spTree>
    <p:extLst>
      <p:ext uri="{BB962C8B-B14F-4D97-AF65-F5344CB8AC3E}">
        <p14:creationId xmlns:p14="http://schemas.microsoft.com/office/powerpoint/2010/main" val="548589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622D-1EE6-01DB-0CA0-33A1F57B94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FA198B-FF92-4D38-69C0-40ABBAD2C9E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B8F5C10-57D5-4F8D-C786-E2D0A170020F}"/>
              </a:ext>
            </a:extLst>
          </p:cNvPr>
          <p:cNvPicPr>
            <a:picLocks noChangeAspect="1"/>
          </p:cNvPicPr>
          <p:nvPr/>
        </p:nvPicPr>
        <p:blipFill>
          <a:blip r:embed="rId2"/>
          <a:stretch>
            <a:fillRect/>
          </a:stretch>
        </p:blipFill>
        <p:spPr>
          <a:xfrm>
            <a:off x="336891" y="378288"/>
            <a:ext cx="7773337" cy="6059129"/>
          </a:xfrm>
          <a:prstGeom prst="rect">
            <a:avLst/>
          </a:prstGeom>
        </p:spPr>
      </p:pic>
    </p:spTree>
    <p:extLst>
      <p:ext uri="{BB962C8B-B14F-4D97-AF65-F5344CB8AC3E}">
        <p14:creationId xmlns:p14="http://schemas.microsoft.com/office/powerpoint/2010/main" val="346861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AE3A-0624-ECB7-D8C5-A8A58C5A9BD6}"/>
              </a:ext>
            </a:extLst>
          </p:cNvPr>
          <p:cNvSpPr>
            <a:spLocks noGrp="1"/>
          </p:cNvSpPr>
          <p:nvPr>
            <p:ph type="title"/>
          </p:nvPr>
        </p:nvSpPr>
        <p:spPr/>
        <p:txBody>
          <a:bodyPr>
            <a:normAutofit/>
          </a:bodyPr>
          <a:lstStyle/>
          <a:p>
            <a:r>
              <a:rPr lang="en-US" sz="6000" dirty="0"/>
              <a:t>DESCRIPTION</a:t>
            </a:r>
          </a:p>
        </p:txBody>
      </p:sp>
      <p:sp>
        <p:nvSpPr>
          <p:cNvPr id="3" name="Content Placeholder 2">
            <a:extLst>
              <a:ext uri="{FF2B5EF4-FFF2-40B4-BE49-F238E27FC236}">
                <a16:creationId xmlns:a16="http://schemas.microsoft.com/office/drawing/2014/main" id="{29B056B6-CFA9-9B2F-8DFF-C150AE32D810}"/>
              </a:ext>
            </a:extLst>
          </p:cNvPr>
          <p:cNvSpPr>
            <a:spLocks noGrp="1"/>
          </p:cNvSpPr>
          <p:nvPr>
            <p:ph idx="1"/>
          </p:nvPr>
        </p:nvSpPr>
        <p:spPr/>
        <p:txBody>
          <a:bodyPr/>
          <a:lstStyle/>
          <a:p>
            <a:r>
              <a:rPr lang="en-US" dirty="0"/>
              <a:t>This scatter plot explores the relationship between different </a:t>
            </a:r>
            <a:r>
              <a:rPr lang="en-US" b="1" dirty="0"/>
              <a:t>car body types</a:t>
            </a:r>
            <a:r>
              <a:rPr lang="en-US" dirty="0"/>
              <a:t> and </a:t>
            </a:r>
            <a:r>
              <a:rPr lang="en-US" b="1" dirty="0"/>
              <a:t>car prices</a:t>
            </a:r>
            <a:r>
              <a:rPr lang="en-US" dirty="0"/>
              <a:t>:</a:t>
            </a:r>
          </a:p>
          <a:p>
            <a:r>
              <a:rPr lang="en-US" dirty="0"/>
              <a:t>The </a:t>
            </a:r>
            <a:r>
              <a:rPr lang="en-US" b="1" dirty="0"/>
              <a:t>x-axis</a:t>
            </a:r>
            <a:r>
              <a:rPr lang="en-US" dirty="0"/>
              <a:t> represents the </a:t>
            </a:r>
            <a:r>
              <a:rPr lang="en-US" b="1" dirty="0"/>
              <a:t>encoded car body types</a:t>
            </a:r>
            <a:r>
              <a:rPr lang="en-US" dirty="0"/>
              <a:t> (e.g., sedan, hatchback, wagon, convertible, hardtop), which have been converted to numerical form for analysis.</a:t>
            </a:r>
          </a:p>
          <a:p>
            <a:r>
              <a:rPr lang="en-US" dirty="0"/>
              <a:t>The </a:t>
            </a:r>
            <a:r>
              <a:rPr lang="en-US" b="1" dirty="0"/>
              <a:t>y-axis</a:t>
            </a:r>
            <a:r>
              <a:rPr lang="en-US" dirty="0"/>
              <a:t> represents the </a:t>
            </a:r>
            <a:r>
              <a:rPr lang="en-US" b="1" dirty="0"/>
              <a:t>price</a:t>
            </a:r>
            <a:r>
              <a:rPr lang="en-US" dirty="0"/>
              <a:t> of the cars.</a:t>
            </a:r>
          </a:p>
          <a:p>
            <a:r>
              <a:rPr lang="en-US" dirty="0"/>
              <a:t>Each point represents a car and its corresponding </a:t>
            </a:r>
            <a:r>
              <a:rPr lang="en-US" b="1" dirty="0"/>
              <a:t>body type and price</a:t>
            </a:r>
            <a:r>
              <a:rPr lang="en-US" dirty="0"/>
              <a:t>.</a:t>
            </a:r>
          </a:p>
          <a:p>
            <a:endParaRPr lang="en-US" dirty="0"/>
          </a:p>
        </p:txBody>
      </p:sp>
    </p:spTree>
    <p:extLst>
      <p:ext uri="{BB962C8B-B14F-4D97-AF65-F5344CB8AC3E}">
        <p14:creationId xmlns:p14="http://schemas.microsoft.com/office/powerpoint/2010/main" val="13001958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41DC-D291-CB02-1BF5-4361DBCA3998}"/>
              </a:ext>
            </a:extLst>
          </p:cNvPr>
          <p:cNvSpPr>
            <a:spLocks noGrp="1"/>
          </p:cNvSpPr>
          <p:nvPr>
            <p:ph type="title"/>
          </p:nvPr>
        </p:nvSpPr>
        <p:spPr/>
        <p:txBody>
          <a:bodyPr>
            <a:normAutofit/>
          </a:bodyPr>
          <a:lstStyle/>
          <a:p>
            <a:r>
              <a:rPr lang="en-US" sz="6000" dirty="0"/>
              <a:t>INSIGHT </a:t>
            </a:r>
          </a:p>
        </p:txBody>
      </p:sp>
      <p:sp>
        <p:nvSpPr>
          <p:cNvPr id="3" name="Content Placeholder 2">
            <a:extLst>
              <a:ext uri="{FF2B5EF4-FFF2-40B4-BE49-F238E27FC236}">
                <a16:creationId xmlns:a16="http://schemas.microsoft.com/office/drawing/2014/main" id="{BEB1166C-25CC-096B-7524-21A319FC6D35}"/>
              </a:ext>
            </a:extLst>
          </p:cNvPr>
          <p:cNvSpPr>
            <a:spLocks noGrp="1"/>
          </p:cNvSpPr>
          <p:nvPr>
            <p:ph idx="1"/>
          </p:nvPr>
        </p:nvSpPr>
        <p:spPr/>
        <p:txBody>
          <a:bodyPr/>
          <a:lstStyle/>
          <a:p>
            <a:pPr marL="0" indent="0">
              <a:buNone/>
            </a:pPr>
            <a:endParaRPr lang="en-US" b="1" dirty="0"/>
          </a:p>
          <a:p>
            <a:r>
              <a:rPr lang="en-US" sz="2400" dirty="0"/>
              <a:t>Car body type has some influence on car price, but the relationship is </a:t>
            </a:r>
            <a:r>
              <a:rPr lang="en-US" sz="2400" b="1" dirty="0"/>
              <a:t>not strictly linear</a:t>
            </a:r>
            <a:r>
              <a:rPr lang="en-US" sz="2400" dirty="0"/>
              <a:t>. It may be more useful when combined with other features (like brand or horsepower) for accurate price prediction.</a:t>
            </a:r>
          </a:p>
          <a:p>
            <a:endParaRPr lang="en-US" dirty="0"/>
          </a:p>
        </p:txBody>
      </p:sp>
    </p:spTree>
    <p:extLst>
      <p:ext uri="{BB962C8B-B14F-4D97-AF65-F5344CB8AC3E}">
        <p14:creationId xmlns:p14="http://schemas.microsoft.com/office/powerpoint/2010/main" val="1002630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D8B6-6B93-22B6-DBB4-2333DF7CA80D}"/>
              </a:ext>
            </a:extLst>
          </p:cNvPr>
          <p:cNvSpPr>
            <a:spLocks noGrp="1"/>
          </p:cNvSpPr>
          <p:nvPr>
            <p:ph type="title"/>
          </p:nvPr>
        </p:nvSpPr>
        <p:spPr/>
        <p:txBody>
          <a:bodyPr>
            <a:normAutofit/>
          </a:bodyPr>
          <a:lstStyle/>
          <a:p>
            <a:r>
              <a:rPr lang="en-US" sz="6000" dirty="0"/>
              <a:t>HEAT MAP</a:t>
            </a:r>
          </a:p>
        </p:txBody>
      </p:sp>
      <p:sp>
        <p:nvSpPr>
          <p:cNvPr id="3" name="Content Placeholder 2">
            <a:extLst>
              <a:ext uri="{FF2B5EF4-FFF2-40B4-BE49-F238E27FC236}">
                <a16:creationId xmlns:a16="http://schemas.microsoft.com/office/drawing/2014/main" id="{A8D6A5D9-27EC-F4DD-8420-5EAD3E9ECAA2}"/>
              </a:ext>
            </a:extLst>
          </p:cNvPr>
          <p:cNvSpPr>
            <a:spLocks noGrp="1"/>
          </p:cNvSpPr>
          <p:nvPr>
            <p:ph idx="1"/>
          </p:nvPr>
        </p:nvSpPr>
        <p:spPr/>
        <p:txBody>
          <a:bodyPr/>
          <a:lstStyle/>
          <a:p>
            <a:r>
              <a:rPr lang="en-US" dirty="0"/>
              <a:t>A heatmap is a data visualization tool that uses color to represent values in a matrix format. It's commonly used to show the relationship (correlation) between multiple variables in a dataset.</a:t>
            </a:r>
          </a:p>
          <a:p>
            <a:endParaRPr lang="en-US" dirty="0"/>
          </a:p>
          <a:p>
            <a:r>
              <a:rPr lang="en-US" dirty="0"/>
              <a:t>SYNTAX: “</a:t>
            </a:r>
            <a:r>
              <a:rPr lang="en-US" dirty="0" err="1"/>
              <a:t>plt.figure</a:t>
            </a:r>
            <a:r>
              <a:rPr lang="en-US" dirty="0"/>
              <a:t>(</a:t>
            </a:r>
            <a:r>
              <a:rPr lang="en-US" dirty="0" err="1"/>
              <a:t>figsize</a:t>
            </a:r>
            <a:r>
              <a:rPr lang="en-US" dirty="0"/>
              <a:t> = (15,10))</a:t>
            </a:r>
            <a:r>
              <a:rPr lang="en-US" dirty="0" err="1"/>
              <a:t>sns.heatmap</a:t>
            </a:r>
            <a:r>
              <a:rPr lang="en-US" dirty="0"/>
              <a:t>(</a:t>
            </a:r>
            <a:r>
              <a:rPr lang="en-US" dirty="0" err="1"/>
              <a:t>data.corr</a:t>
            </a:r>
            <a:r>
              <a:rPr lang="en-US" dirty="0"/>
              <a:t>(), </a:t>
            </a:r>
            <a:r>
              <a:rPr lang="en-US" dirty="0" err="1"/>
              <a:t>annot</a:t>
            </a:r>
            <a:r>
              <a:rPr lang="en-US" dirty="0"/>
              <a:t> = True, </a:t>
            </a:r>
            <a:r>
              <a:rPr lang="en-US" dirty="0" err="1"/>
              <a:t>cmap</a:t>
            </a:r>
            <a:r>
              <a:rPr lang="en-US" dirty="0"/>
              <a:t> = '</a:t>
            </a:r>
            <a:r>
              <a:rPr lang="en-US" dirty="0" err="1"/>
              <a:t>coolwarm</a:t>
            </a:r>
            <a:r>
              <a:rPr lang="en-US" dirty="0"/>
              <a:t>', </a:t>
            </a:r>
            <a:r>
              <a:rPr lang="en-US" dirty="0" err="1"/>
              <a:t>fmt</a:t>
            </a:r>
            <a:r>
              <a:rPr lang="en-US" dirty="0"/>
              <a:t> = '.2f’)”</a:t>
            </a:r>
          </a:p>
          <a:p>
            <a:endParaRPr lang="en-US" dirty="0"/>
          </a:p>
        </p:txBody>
      </p:sp>
    </p:spTree>
    <p:extLst>
      <p:ext uri="{BB962C8B-B14F-4D97-AF65-F5344CB8AC3E}">
        <p14:creationId xmlns:p14="http://schemas.microsoft.com/office/powerpoint/2010/main" val="1485999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E6C1-F778-DD6B-C752-FE93398A7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CDF54E-B912-6B14-1BDF-97C8D446A70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FD9D984-CCF0-4792-AA33-A04DB8F30923}"/>
              </a:ext>
            </a:extLst>
          </p:cNvPr>
          <p:cNvPicPr>
            <a:picLocks noChangeAspect="1"/>
          </p:cNvPicPr>
          <p:nvPr/>
        </p:nvPicPr>
        <p:blipFill>
          <a:blip r:embed="rId2"/>
          <a:stretch>
            <a:fillRect/>
          </a:stretch>
        </p:blipFill>
        <p:spPr>
          <a:xfrm>
            <a:off x="42203" y="243252"/>
            <a:ext cx="8637563" cy="6350801"/>
          </a:xfrm>
          <a:prstGeom prst="rect">
            <a:avLst/>
          </a:prstGeom>
        </p:spPr>
      </p:pic>
    </p:spTree>
    <p:extLst>
      <p:ext uri="{BB962C8B-B14F-4D97-AF65-F5344CB8AC3E}">
        <p14:creationId xmlns:p14="http://schemas.microsoft.com/office/powerpoint/2010/main" val="3141854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80E2-46C2-824C-86FD-B4C80AB3BDC1}"/>
              </a:ext>
            </a:extLst>
          </p:cNvPr>
          <p:cNvSpPr>
            <a:spLocks noGrp="1"/>
          </p:cNvSpPr>
          <p:nvPr>
            <p:ph type="title"/>
          </p:nvPr>
        </p:nvSpPr>
        <p:spPr/>
        <p:txBody>
          <a:bodyPr>
            <a:normAutofit/>
          </a:bodyPr>
          <a:lstStyle/>
          <a:p>
            <a:r>
              <a:rPr lang="en-US" sz="6000" dirty="0"/>
              <a:t>DESCRIPTION</a:t>
            </a:r>
          </a:p>
        </p:txBody>
      </p:sp>
      <p:sp>
        <p:nvSpPr>
          <p:cNvPr id="3" name="Content Placeholder 2">
            <a:extLst>
              <a:ext uri="{FF2B5EF4-FFF2-40B4-BE49-F238E27FC236}">
                <a16:creationId xmlns:a16="http://schemas.microsoft.com/office/drawing/2014/main" id="{4F3576C0-A8A9-26FC-8CCA-84BFB5ACD084}"/>
              </a:ext>
            </a:extLst>
          </p:cNvPr>
          <p:cNvSpPr>
            <a:spLocks noGrp="1"/>
          </p:cNvSpPr>
          <p:nvPr>
            <p:ph idx="1"/>
          </p:nvPr>
        </p:nvSpPr>
        <p:spPr>
          <a:xfrm>
            <a:off x="450167" y="2025748"/>
            <a:ext cx="8008504" cy="4213734"/>
          </a:xfrm>
        </p:spPr>
        <p:txBody>
          <a:bodyPr>
            <a:normAutofit fontScale="92500"/>
          </a:bodyPr>
          <a:lstStyle/>
          <a:p>
            <a:r>
              <a:rPr lang="en-US" dirty="0"/>
              <a:t>The heatmap above displays the </a:t>
            </a:r>
            <a:r>
              <a:rPr lang="en-US" b="1" dirty="0"/>
              <a:t>correlation coefficients</a:t>
            </a:r>
            <a:r>
              <a:rPr lang="en-US" dirty="0"/>
              <a:t> between pairs of numerical features in the car dataset.</a:t>
            </a:r>
          </a:p>
          <a:p>
            <a:r>
              <a:rPr lang="en-US" b="1" dirty="0"/>
              <a:t>Red squares</a:t>
            </a:r>
            <a:r>
              <a:rPr lang="en-US" dirty="0"/>
              <a:t> indicate </a:t>
            </a:r>
            <a:r>
              <a:rPr lang="en-US" b="1" dirty="0"/>
              <a:t>positive correlations</a:t>
            </a:r>
            <a:r>
              <a:rPr lang="en-US" dirty="0"/>
              <a:t> (closer to +1), meaning as one feature increases, the other tends to increase.</a:t>
            </a:r>
          </a:p>
          <a:p>
            <a:r>
              <a:rPr lang="en-US" b="1" dirty="0"/>
              <a:t>Blue squares</a:t>
            </a:r>
            <a:r>
              <a:rPr lang="en-US" dirty="0"/>
              <a:t> indicate </a:t>
            </a:r>
            <a:r>
              <a:rPr lang="en-US" b="1" dirty="0"/>
              <a:t>negative correlations</a:t>
            </a:r>
            <a:r>
              <a:rPr lang="en-US" dirty="0"/>
              <a:t> (closer to -1), meaning as one feature increases, the other tends to decrease.</a:t>
            </a:r>
          </a:p>
          <a:p>
            <a:r>
              <a:rPr lang="en-US" b="1" dirty="0"/>
              <a:t>Lighter colors (near white)</a:t>
            </a:r>
            <a:r>
              <a:rPr lang="en-US" dirty="0"/>
              <a:t> represent </a:t>
            </a:r>
            <a:r>
              <a:rPr lang="en-US" b="1" dirty="0"/>
              <a:t>weak or no correlation</a:t>
            </a:r>
            <a:r>
              <a:rPr lang="en-US" dirty="0"/>
              <a:t> (around 0).</a:t>
            </a:r>
          </a:p>
          <a:p>
            <a:r>
              <a:rPr lang="en-US" dirty="0"/>
              <a:t>The diagonal shows a perfect correlation (</a:t>
            </a:r>
            <a:r>
              <a:rPr lang="en-US" b="1" dirty="0"/>
              <a:t>value = 1.00</a:t>
            </a:r>
            <a:r>
              <a:rPr lang="en-US" dirty="0"/>
              <a:t>) since every feature is perfectly correlated with itself.</a:t>
            </a:r>
          </a:p>
          <a:p>
            <a:endParaRPr lang="en-US" dirty="0"/>
          </a:p>
        </p:txBody>
      </p:sp>
    </p:spTree>
    <p:extLst>
      <p:ext uri="{BB962C8B-B14F-4D97-AF65-F5344CB8AC3E}">
        <p14:creationId xmlns:p14="http://schemas.microsoft.com/office/powerpoint/2010/main" val="2427122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AC188-9EEC-053C-F6D1-4802F1E238F7}"/>
              </a:ext>
            </a:extLst>
          </p:cNvPr>
          <p:cNvSpPr>
            <a:spLocks noGrp="1"/>
          </p:cNvSpPr>
          <p:nvPr>
            <p:ph type="title"/>
          </p:nvPr>
        </p:nvSpPr>
        <p:spPr/>
        <p:txBody>
          <a:bodyPr>
            <a:normAutofit/>
          </a:bodyPr>
          <a:lstStyle/>
          <a:p>
            <a:r>
              <a:rPr lang="en-US" sz="6000" dirty="0"/>
              <a:t>INSIGHT </a:t>
            </a:r>
          </a:p>
        </p:txBody>
      </p:sp>
      <p:sp>
        <p:nvSpPr>
          <p:cNvPr id="3" name="Content Placeholder 2">
            <a:extLst>
              <a:ext uri="{FF2B5EF4-FFF2-40B4-BE49-F238E27FC236}">
                <a16:creationId xmlns:a16="http://schemas.microsoft.com/office/drawing/2014/main" id="{F0E17C22-1B40-A599-E2D5-E2D3C08D2AC3}"/>
              </a:ext>
            </a:extLst>
          </p:cNvPr>
          <p:cNvSpPr>
            <a:spLocks noGrp="1"/>
          </p:cNvSpPr>
          <p:nvPr>
            <p:ph idx="1"/>
          </p:nvPr>
        </p:nvSpPr>
        <p:spPr/>
        <p:txBody>
          <a:bodyPr>
            <a:normAutofit/>
          </a:bodyPr>
          <a:lstStyle/>
          <a:p>
            <a:r>
              <a:rPr lang="en-US" sz="2400" dirty="0"/>
              <a:t>This heatmap helps identify which features have the </a:t>
            </a:r>
            <a:r>
              <a:rPr lang="en-US" sz="2400" b="1" dirty="0"/>
              <a:t>strongest relationships with car price</a:t>
            </a:r>
            <a:r>
              <a:rPr lang="en-US" sz="2400" dirty="0"/>
              <a:t> — useful for </a:t>
            </a:r>
            <a:r>
              <a:rPr lang="en-US" sz="2400" b="1" dirty="0"/>
              <a:t>feature selection</a:t>
            </a:r>
            <a:r>
              <a:rPr lang="en-US" sz="2400" dirty="0"/>
              <a:t> in building regression models.</a:t>
            </a:r>
          </a:p>
        </p:txBody>
      </p:sp>
    </p:spTree>
    <p:extLst>
      <p:ext uri="{BB962C8B-B14F-4D97-AF65-F5344CB8AC3E}">
        <p14:creationId xmlns:p14="http://schemas.microsoft.com/office/powerpoint/2010/main" val="26164502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DC48-37E7-9A31-4AE2-CF035C7C6E48}"/>
              </a:ext>
            </a:extLst>
          </p:cNvPr>
          <p:cNvSpPr>
            <a:spLocks noGrp="1"/>
          </p:cNvSpPr>
          <p:nvPr>
            <p:ph type="title"/>
          </p:nvPr>
        </p:nvSpPr>
        <p:spPr>
          <a:xfrm>
            <a:off x="685331" y="449706"/>
            <a:ext cx="7773338" cy="1596177"/>
          </a:xfrm>
        </p:spPr>
        <p:txBody>
          <a:bodyPr>
            <a:normAutofit/>
          </a:bodyPr>
          <a:lstStyle/>
          <a:p>
            <a:r>
              <a:rPr lang="en-US" sz="6000" dirty="0"/>
              <a:t>Extract Car NAMES</a:t>
            </a:r>
          </a:p>
        </p:txBody>
      </p:sp>
      <p:sp>
        <p:nvSpPr>
          <p:cNvPr id="3" name="Content Placeholder 2">
            <a:extLst>
              <a:ext uri="{FF2B5EF4-FFF2-40B4-BE49-F238E27FC236}">
                <a16:creationId xmlns:a16="http://schemas.microsoft.com/office/drawing/2014/main" id="{A48E434C-12B8-4BC5-DBA6-26C3236FB7E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8B56F5D-D8B8-0C85-79CB-1F58A41F7885}"/>
              </a:ext>
            </a:extLst>
          </p:cNvPr>
          <p:cNvPicPr>
            <a:picLocks noChangeAspect="1"/>
          </p:cNvPicPr>
          <p:nvPr/>
        </p:nvPicPr>
        <p:blipFill>
          <a:blip r:embed="rId2"/>
          <a:stretch>
            <a:fillRect/>
          </a:stretch>
        </p:blipFill>
        <p:spPr>
          <a:xfrm>
            <a:off x="685329" y="2069372"/>
            <a:ext cx="5138695" cy="4202576"/>
          </a:xfrm>
          <a:prstGeom prst="rect">
            <a:avLst/>
          </a:prstGeom>
        </p:spPr>
      </p:pic>
    </p:spTree>
    <p:extLst>
      <p:ext uri="{BB962C8B-B14F-4D97-AF65-F5344CB8AC3E}">
        <p14:creationId xmlns:p14="http://schemas.microsoft.com/office/powerpoint/2010/main" val="894622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18519"/>
            <a:ext cx="9144000" cy="1308756"/>
          </a:xfrm>
        </p:spPr>
        <p:txBody>
          <a:bodyPr>
            <a:normAutofit fontScale="90000"/>
          </a:bodyPr>
          <a:lstStyle/>
          <a:p>
            <a:r>
              <a:rPr lang="en-US" sz="6000" dirty="0"/>
              <a:t>Splitting Data: Train and Test Sets </a:t>
            </a:r>
            <a:endParaRPr sz="6000" dirty="0"/>
          </a:p>
        </p:txBody>
      </p:sp>
      <p:sp>
        <p:nvSpPr>
          <p:cNvPr id="3" name="Content Placeholder 2"/>
          <p:cNvSpPr>
            <a:spLocks noGrp="1"/>
          </p:cNvSpPr>
          <p:nvPr>
            <p:ph idx="1"/>
          </p:nvPr>
        </p:nvSpPr>
        <p:spPr>
          <a:xfrm>
            <a:off x="323557" y="2125091"/>
            <a:ext cx="7952233" cy="4118112"/>
          </a:xfrm>
        </p:spPr>
        <p:txBody>
          <a:bodyPr/>
          <a:lstStyle/>
          <a:p>
            <a:endParaRPr dirty="0"/>
          </a:p>
          <a:p>
            <a:r>
              <a:rPr lang="en-US" dirty="0"/>
              <a:t>Splitting your dataset into </a:t>
            </a:r>
            <a:r>
              <a:rPr lang="en-US" b="1" dirty="0"/>
              <a:t>training</a:t>
            </a:r>
            <a:r>
              <a:rPr lang="en-US" dirty="0"/>
              <a:t> and </a:t>
            </a:r>
            <a:r>
              <a:rPr lang="en-US" b="1" dirty="0"/>
              <a:t>testing</a:t>
            </a:r>
            <a:r>
              <a:rPr lang="en-US" dirty="0"/>
              <a:t> sets is a </a:t>
            </a:r>
            <a:r>
              <a:rPr lang="en-US" b="1" dirty="0"/>
              <a:t>core step</a:t>
            </a:r>
            <a:r>
              <a:rPr lang="en-US" dirty="0"/>
              <a:t> in machine learning to evaluate how well your model performs on unseen data.</a:t>
            </a:r>
          </a:p>
          <a:p>
            <a:r>
              <a:rPr lang="en-US" b="1" dirty="0"/>
              <a:t>training Set</a:t>
            </a:r>
            <a:r>
              <a:rPr lang="en-US" dirty="0"/>
              <a:t>: Used to train the machine learning model (the model learns patterns here).</a:t>
            </a:r>
          </a:p>
          <a:p>
            <a:r>
              <a:rPr lang="en-US" b="1" dirty="0"/>
              <a:t>Testing Set</a:t>
            </a:r>
            <a:r>
              <a:rPr lang="en-US" dirty="0"/>
              <a:t>: Used to evaluate the model's performance (how well it generalizes to new data).</a:t>
            </a:r>
          </a:p>
          <a:p>
            <a:endParaRPr lang="en-US" dirty="0"/>
          </a:p>
          <a:p>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385" y="268710"/>
            <a:ext cx="7773338" cy="1596177"/>
          </a:xfrm>
        </p:spPr>
        <p:txBody>
          <a:bodyPr>
            <a:normAutofit/>
          </a:bodyPr>
          <a:lstStyle/>
          <a:p>
            <a:r>
              <a:rPr lang="en-US" sz="6000" dirty="0"/>
              <a:t>Code </a:t>
            </a:r>
            <a:endParaRPr sz="6000" dirty="0"/>
          </a:p>
        </p:txBody>
      </p:sp>
      <p:sp>
        <p:nvSpPr>
          <p:cNvPr id="3" name="Content Placeholder 2"/>
          <p:cNvSpPr>
            <a:spLocks noGrp="1"/>
          </p:cNvSpPr>
          <p:nvPr>
            <p:ph idx="1"/>
          </p:nvPr>
        </p:nvSpPr>
        <p:spPr/>
        <p:txBody>
          <a:bodyPr/>
          <a:lstStyle/>
          <a:p>
            <a:pPr marL="0" indent="0">
              <a:buNone/>
            </a:pPr>
            <a:endParaRPr dirty="0"/>
          </a:p>
        </p:txBody>
      </p:sp>
      <p:pic>
        <p:nvPicPr>
          <p:cNvPr id="5" name="Picture 4">
            <a:extLst>
              <a:ext uri="{FF2B5EF4-FFF2-40B4-BE49-F238E27FC236}">
                <a16:creationId xmlns:a16="http://schemas.microsoft.com/office/drawing/2014/main" id="{A371B401-3431-EC49-F4D3-EB16CB6B92FA}"/>
              </a:ext>
            </a:extLst>
          </p:cNvPr>
          <p:cNvPicPr>
            <a:picLocks noChangeAspect="1"/>
          </p:cNvPicPr>
          <p:nvPr/>
        </p:nvPicPr>
        <p:blipFill>
          <a:blip r:embed="rId2"/>
          <a:srcRect r="25376"/>
          <a:stretch>
            <a:fillRect/>
          </a:stretch>
        </p:blipFill>
        <p:spPr>
          <a:xfrm>
            <a:off x="106944" y="2214694"/>
            <a:ext cx="8930111" cy="297628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962" y="140216"/>
            <a:ext cx="8575195" cy="1871464"/>
          </a:xfrm>
        </p:spPr>
        <p:txBody>
          <a:bodyPr>
            <a:noAutofit/>
          </a:bodyPr>
          <a:lstStyle/>
          <a:p>
            <a:r>
              <a:rPr lang="en-US" sz="6000" dirty="0"/>
              <a:t>Why linear regression? </a:t>
            </a:r>
            <a:endParaRPr sz="6000" dirty="0"/>
          </a:p>
        </p:txBody>
      </p:sp>
      <p:sp>
        <p:nvSpPr>
          <p:cNvPr id="3" name="Content Placeholder 2"/>
          <p:cNvSpPr>
            <a:spLocks noGrp="1"/>
          </p:cNvSpPr>
          <p:nvPr>
            <p:ph idx="1"/>
          </p:nvPr>
        </p:nvSpPr>
        <p:spPr>
          <a:xfrm>
            <a:off x="375842" y="2138289"/>
            <a:ext cx="8163247" cy="4220308"/>
          </a:xfrm>
        </p:spPr>
        <p:txBody>
          <a:bodyPr>
            <a:normAutofit fontScale="92500" lnSpcReduction="10000"/>
          </a:bodyPr>
          <a:lstStyle/>
          <a:p>
            <a:pPr marL="0" indent="0">
              <a:buNone/>
            </a:pPr>
            <a:r>
              <a:rPr lang="en-US" b="1" dirty="0"/>
              <a:t>1. Predicting Continuous Values</a:t>
            </a:r>
          </a:p>
          <a:p>
            <a:r>
              <a:rPr lang="en-US" dirty="0"/>
              <a:t>Car prices are continuous numbers (like ₹8,500, ₹13,200, ₹22,000 etc.), and linear regression is designed to predict such </a:t>
            </a:r>
            <a:r>
              <a:rPr lang="en-US" b="1" dirty="0"/>
              <a:t>numerical outputs</a:t>
            </a:r>
            <a:r>
              <a:rPr lang="en-US" dirty="0"/>
              <a:t>.</a:t>
            </a:r>
          </a:p>
          <a:p>
            <a:pPr marL="0" indent="0">
              <a:buNone/>
            </a:pPr>
            <a:r>
              <a:rPr lang="en-US" b="1" dirty="0"/>
              <a:t>2. Simple and Interpretable</a:t>
            </a:r>
          </a:p>
          <a:p>
            <a:r>
              <a:rPr lang="en-US" dirty="0"/>
              <a:t>Linear regression gives a clear understanding of </a:t>
            </a:r>
            <a:r>
              <a:rPr lang="en-US" b="1" dirty="0"/>
              <a:t>how each feature affects price</a:t>
            </a:r>
            <a:r>
              <a:rPr lang="en-US" dirty="0"/>
              <a:t>.</a:t>
            </a:r>
          </a:p>
          <a:p>
            <a:pPr lvl="1"/>
            <a:r>
              <a:rPr lang="en-US" dirty="0"/>
              <a:t>Example: “For every 10 units increase in horsepower, price increases by ₹2,000.”</a:t>
            </a:r>
          </a:p>
          <a:p>
            <a:r>
              <a:rPr lang="en-US" dirty="0"/>
              <a:t>It's </a:t>
            </a:r>
            <a:r>
              <a:rPr lang="en-US" b="1" dirty="0"/>
              <a:t>mathematically simple</a:t>
            </a:r>
            <a:r>
              <a:rPr lang="en-US" dirty="0"/>
              <a:t>, </a:t>
            </a:r>
            <a:r>
              <a:rPr lang="en-US" b="1" dirty="0"/>
              <a:t>easy to explain</a:t>
            </a:r>
            <a:r>
              <a:rPr lang="en-US" dirty="0"/>
              <a:t> to stakeholders or in a report.</a:t>
            </a:r>
          </a:p>
          <a:p>
            <a:endParaRPr dirty="0"/>
          </a:p>
          <a:p>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85911-2FBC-905A-17FB-C6D871116994}"/>
              </a:ext>
            </a:extLst>
          </p:cNvPr>
          <p:cNvSpPr>
            <a:spLocks noGrp="1"/>
          </p:cNvSpPr>
          <p:nvPr>
            <p:ph idx="1"/>
          </p:nvPr>
        </p:nvSpPr>
        <p:spPr>
          <a:xfrm>
            <a:off x="277368" y="974393"/>
            <a:ext cx="8106977" cy="4610481"/>
          </a:xfrm>
        </p:spPr>
        <p:txBody>
          <a:bodyPr>
            <a:normAutofit fontScale="92500" lnSpcReduction="10000"/>
          </a:bodyPr>
          <a:lstStyle/>
          <a:p>
            <a:pPr marL="0" indent="0">
              <a:buNone/>
            </a:pPr>
            <a:r>
              <a:rPr lang="en-US" b="1" dirty="0"/>
              <a:t>3. Assumes Linear Relationships</a:t>
            </a:r>
          </a:p>
          <a:p>
            <a:r>
              <a:rPr lang="en-US" dirty="0"/>
              <a:t>Many features like </a:t>
            </a:r>
            <a:r>
              <a:rPr lang="en-US" b="1" dirty="0"/>
              <a:t>engine size</a:t>
            </a:r>
            <a:r>
              <a:rPr lang="en-US" dirty="0"/>
              <a:t>, </a:t>
            </a:r>
            <a:r>
              <a:rPr lang="en-US" b="1" dirty="0"/>
              <a:t>horsepower</a:t>
            </a:r>
            <a:r>
              <a:rPr lang="en-US" dirty="0"/>
              <a:t>, or </a:t>
            </a:r>
            <a:r>
              <a:rPr lang="en-US" b="1" dirty="0"/>
              <a:t>curb weight</a:t>
            </a:r>
            <a:r>
              <a:rPr lang="en-US" dirty="0"/>
              <a:t> often have a </a:t>
            </a:r>
            <a:r>
              <a:rPr lang="en-US" b="1" dirty="0"/>
              <a:t>direct (linear)</a:t>
            </a:r>
            <a:r>
              <a:rPr lang="en-US" dirty="0"/>
              <a:t> relationship with car price.</a:t>
            </a:r>
          </a:p>
          <a:p>
            <a:r>
              <a:rPr lang="en-US" dirty="0"/>
              <a:t>Linear regression captures such relationships efficiently.</a:t>
            </a:r>
          </a:p>
          <a:p>
            <a:pPr marL="0" indent="0">
              <a:buNone/>
            </a:pPr>
            <a:r>
              <a:rPr lang="en-US" b="1" dirty="0"/>
              <a:t>4. Good Baseline Model</a:t>
            </a:r>
          </a:p>
          <a:p>
            <a:r>
              <a:rPr lang="en-US" dirty="0"/>
              <a:t>Linear regression is fast to train and serves as a </a:t>
            </a:r>
            <a:r>
              <a:rPr lang="en-US" b="1" dirty="0"/>
              <a:t>baseline</a:t>
            </a:r>
            <a:r>
              <a:rPr lang="en-US" dirty="0"/>
              <a:t> to compare more complex models later (like decision trees, random forests, etc.).</a:t>
            </a:r>
          </a:p>
          <a:p>
            <a:pPr marL="0" indent="0">
              <a:buNone/>
            </a:pPr>
            <a:r>
              <a:rPr lang="en-US" b="1" dirty="0"/>
              <a:t>5. Low Complexity (Low Variance)</a:t>
            </a:r>
          </a:p>
          <a:p>
            <a:r>
              <a:rPr lang="en-US" dirty="0"/>
              <a:t>It's less prone to overfitting on small/medium datasets.</a:t>
            </a:r>
          </a:p>
          <a:p>
            <a:r>
              <a:rPr lang="en-US" dirty="0"/>
              <a:t>Works well if the data is not too noisy or nonlinear.</a:t>
            </a:r>
          </a:p>
          <a:p>
            <a:endParaRPr lang="en-US" dirty="0"/>
          </a:p>
        </p:txBody>
      </p:sp>
    </p:spTree>
    <p:extLst>
      <p:ext uri="{BB962C8B-B14F-4D97-AF65-F5344CB8AC3E}">
        <p14:creationId xmlns:p14="http://schemas.microsoft.com/office/powerpoint/2010/main" val="25565852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618518"/>
            <a:ext cx="7910028" cy="1596177"/>
          </a:xfrm>
        </p:spPr>
        <p:txBody>
          <a:bodyPr>
            <a:normAutofit/>
          </a:bodyPr>
          <a:lstStyle/>
          <a:p>
            <a:r>
              <a:rPr sz="6000" dirty="0" err="1"/>
              <a:t>Evaluat</a:t>
            </a:r>
            <a:r>
              <a:rPr lang="en-US" sz="6000" dirty="0" err="1"/>
              <a:t>ION</a:t>
            </a:r>
            <a:r>
              <a:rPr sz="6000" dirty="0"/>
              <a:t> </a:t>
            </a:r>
            <a:r>
              <a:rPr lang="en-US" sz="6000" dirty="0"/>
              <a:t>matrix </a:t>
            </a:r>
            <a:endParaRPr sz="6000" dirty="0"/>
          </a:p>
        </p:txBody>
      </p:sp>
      <p:graphicFrame>
        <p:nvGraphicFramePr>
          <p:cNvPr id="4" name="Content Placeholder 3">
            <a:extLst>
              <a:ext uri="{FF2B5EF4-FFF2-40B4-BE49-F238E27FC236}">
                <a16:creationId xmlns:a16="http://schemas.microsoft.com/office/drawing/2014/main" id="{BAF98A9B-6A7F-3F92-CB12-69AB4F872FCE}"/>
              </a:ext>
            </a:extLst>
          </p:cNvPr>
          <p:cNvGraphicFramePr>
            <a:graphicFrameLocks noGrp="1"/>
          </p:cNvGraphicFramePr>
          <p:nvPr>
            <p:ph idx="1"/>
          </p:nvPr>
        </p:nvGraphicFramePr>
        <p:xfrm>
          <a:off x="685800" y="2661761"/>
          <a:ext cx="7772400" cy="2834640"/>
        </p:xfrm>
        <a:graphic>
          <a:graphicData uri="http://schemas.openxmlformats.org/drawingml/2006/table">
            <a:tbl>
              <a:tblPr/>
              <a:tblGrid>
                <a:gridCol w="3886200">
                  <a:extLst>
                    <a:ext uri="{9D8B030D-6E8A-4147-A177-3AD203B41FA5}">
                      <a16:colId xmlns:a16="http://schemas.microsoft.com/office/drawing/2014/main" val="3061225464"/>
                    </a:ext>
                  </a:extLst>
                </a:gridCol>
                <a:gridCol w="3886200">
                  <a:extLst>
                    <a:ext uri="{9D8B030D-6E8A-4147-A177-3AD203B41FA5}">
                      <a16:colId xmlns:a16="http://schemas.microsoft.com/office/drawing/2014/main" val="1106460384"/>
                    </a:ext>
                  </a:extLst>
                </a:gridCol>
              </a:tblGrid>
              <a:tr h="0">
                <a:tc>
                  <a:txBody>
                    <a:bodyPr/>
                    <a:lstStyle/>
                    <a:p>
                      <a:pPr>
                        <a:buNone/>
                      </a:pPr>
                      <a:r>
                        <a:rPr lang="en-US"/>
                        <a:t>Metric</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extLst>
                  <a:ext uri="{0D108BD9-81ED-4DB2-BD59-A6C34878D82A}">
                    <a16:rowId xmlns:a16="http://schemas.microsoft.com/office/drawing/2014/main" val="3792911337"/>
                  </a:ext>
                </a:extLst>
              </a:tr>
              <a:tr h="0">
                <a:tc>
                  <a:txBody>
                    <a:bodyPr/>
                    <a:lstStyle/>
                    <a:p>
                      <a:pPr>
                        <a:buNone/>
                      </a:pPr>
                      <a:r>
                        <a:rPr lang="en-US" b="1"/>
                        <a:t>R² Score (r2_score)</a:t>
                      </a:r>
                      <a:endParaRPr lang="en-US"/>
                    </a:p>
                  </a:txBody>
                  <a:tcPr anchor="ctr">
                    <a:lnL>
                      <a:noFill/>
                    </a:lnL>
                    <a:lnR>
                      <a:noFill/>
                    </a:lnR>
                    <a:lnT>
                      <a:noFill/>
                    </a:lnT>
                    <a:lnB>
                      <a:noFill/>
                    </a:lnB>
                    <a:noFill/>
                  </a:tcPr>
                </a:tc>
                <a:tc>
                  <a:txBody>
                    <a:bodyPr/>
                    <a:lstStyle/>
                    <a:p>
                      <a:pPr>
                        <a:buNone/>
                      </a:pPr>
                      <a:r>
                        <a:rPr lang="en-US"/>
                        <a:t>Measures how well the model explains the variability of the target variable. Ranges from 0 to 1.</a:t>
                      </a:r>
                    </a:p>
                  </a:txBody>
                  <a:tcPr anchor="ctr">
                    <a:lnL>
                      <a:noFill/>
                    </a:lnL>
                    <a:lnR>
                      <a:noFill/>
                    </a:lnR>
                    <a:lnT>
                      <a:noFill/>
                    </a:lnT>
                    <a:lnB>
                      <a:noFill/>
                    </a:lnB>
                    <a:noFill/>
                  </a:tcPr>
                </a:tc>
                <a:extLst>
                  <a:ext uri="{0D108BD9-81ED-4DB2-BD59-A6C34878D82A}">
                    <a16:rowId xmlns:a16="http://schemas.microsoft.com/office/drawing/2014/main" val="2031287455"/>
                  </a:ext>
                </a:extLst>
              </a:tr>
              <a:tr h="0">
                <a:tc>
                  <a:txBody>
                    <a:bodyPr/>
                    <a:lstStyle/>
                    <a:p>
                      <a:pPr>
                        <a:buNone/>
                      </a:pPr>
                      <a:r>
                        <a:rPr lang="en-US" b="1"/>
                        <a:t>MAE (Mean Absolute Error)</a:t>
                      </a:r>
                      <a:endParaRPr lang="en-US"/>
                    </a:p>
                  </a:txBody>
                  <a:tcPr anchor="ctr">
                    <a:lnL>
                      <a:noFill/>
                    </a:lnL>
                    <a:lnR>
                      <a:noFill/>
                    </a:lnR>
                    <a:lnT>
                      <a:noFill/>
                    </a:lnT>
                    <a:lnB>
                      <a:noFill/>
                    </a:lnB>
                    <a:noFill/>
                  </a:tcPr>
                </a:tc>
                <a:tc>
                  <a:txBody>
                    <a:bodyPr/>
                    <a:lstStyle/>
                    <a:p>
                      <a:pPr>
                        <a:buNone/>
                      </a:pPr>
                      <a:r>
                        <a:rPr lang="en-US"/>
                        <a:t>Average of the absolute differences between actual and predicted prices. Lower is better.</a:t>
                      </a:r>
                    </a:p>
                  </a:txBody>
                  <a:tcPr anchor="ctr">
                    <a:lnL>
                      <a:noFill/>
                    </a:lnL>
                    <a:lnR>
                      <a:noFill/>
                    </a:lnR>
                    <a:lnT>
                      <a:noFill/>
                    </a:lnT>
                    <a:lnB>
                      <a:noFill/>
                    </a:lnB>
                    <a:noFill/>
                  </a:tcPr>
                </a:tc>
                <a:extLst>
                  <a:ext uri="{0D108BD9-81ED-4DB2-BD59-A6C34878D82A}">
                    <a16:rowId xmlns:a16="http://schemas.microsoft.com/office/drawing/2014/main" val="724604972"/>
                  </a:ext>
                </a:extLst>
              </a:tr>
              <a:tr h="0">
                <a:tc>
                  <a:txBody>
                    <a:bodyPr/>
                    <a:lstStyle/>
                    <a:p>
                      <a:pPr>
                        <a:buNone/>
                      </a:pPr>
                      <a:r>
                        <a:rPr lang="en-US" b="1"/>
                        <a:t>RMSE (Root Mean Squared Error)</a:t>
                      </a:r>
                      <a:endParaRPr lang="en-US"/>
                    </a:p>
                  </a:txBody>
                  <a:tcPr anchor="ctr">
                    <a:lnL>
                      <a:noFill/>
                    </a:lnL>
                    <a:lnR>
                      <a:noFill/>
                    </a:lnR>
                    <a:lnT>
                      <a:noFill/>
                    </a:lnT>
                    <a:lnB>
                      <a:noFill/>
                    </a:lnB>
                    <a:noFill/>
                  </a:tcPr>
                </a:tc>
                <a:tc>
                  <a:txBody>
                    <a:bodyPr/>
                    <a:lstStyle/>
                    <a:p>
                      <a:pPr>
                        <a:buNone/>
                      </a:pPr>
                      <a:r>
                        <a:rPr lang="en-US" dirty="0"/>
                        <a:t>Similar to MAE, but penalizes large errors more heavily.</a:t>
                      </a:r>
                    </a:p>
                  </a:txBody>
                  <a:tcPr anchor="ctr">
                    <a:lnL>
                      <a:noFill/>
                    </a:lnL>
                    <a:lnR>
                      <a:noFill/>
                    </a:lnR>
                    <a:lnT>
                      <a:noFill/>
                    </a:lnT>
                    <a:lnB>
                      <a:noFill/>
                    </a:lnB>
                    <a:noFill/>
                  </a:tcPr>
                </a:tc>
                <a:extLst>
                  <a:ext uri="{0D108BD9-81ED-4DB2-BD59-A6C34878D82A}">
                    <a16:rowId xmlns:a16="http://schemas.microsoft.com/office/drawing/2014/main" val="2364973249"/>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A689-213C-2222-CD02-2003D20A0EF2}"/>
              </a:ext>
            </a:extLst>
          </p:cNvPr>
          <p:cNvSpPr>
            <a:spLocks noGrp="1"/>
          </p:cNvSpPr>
          <p:nvPr>
            <p:ph type="title"/>
          </p:nvPr>
        </p:nvSpPr>
        <p:spPr>
          <a:xfrm>
            <a:off x="291437" y="280894"/>
            <a:ext cx="7773338" cy="1596177"/>
          </a:xfrm>
        </p:spPr>
        <p:txBody>
          <a:bodyPr>
            <a:normAutofit/>
          </a:bodyPr>
          <a:lstStyle/>
          <a:p>
            <a:r>
              <a:rPr lang="en-US" sz="6000" dirty="0"/>
              <a:t>INSIGHT </a:t>
            </a:r>
          </a:p>
        </p:txBody>
      </p:sp>
      <p:sp>
        <p:nvSpPr>
          <p:cNvPr id="3" name="Content Placeholder 2">
            <a:extLst>
              <a:ext uri="{FF2B5EF4-FFF2-40B4-BE49-F238E27FC236}">
                <a16:creationId xmlns:a16="http://schemas.microsoft.com/office/drawing/2014/main" id="{9B5D5CDD-AD2B-9861-B9B5-0ED20667AA49}"/>
              </a:ext>
            </a:extLst>
          </p:cNvPr>
          <p:cNvSpPr>
            <a:spLocks noGrp="1"/>
          </p:cNvSpPr>
          <p:nvPr>
            <p:ph idx="1"/>
          </p:nvPr>
        </p:nvSpPr>
        <p:spPr>
          <a:xfrm>
            <a:off x="291437" y="1877071"/>
            <a:ext cx="8458671" cy="4812117"/>
          </a:xfrm>
        </p:spPr>
        <p:txBody>
          <a:bodyPr>
            <a:normAutofit fontScale="85000" lnSpcReduction="20000"/>
          </a:bodyPr>
          <a:lstStyle/>
          <a:p>
            <a:r>
              <a:rPr lang="en-US" dirty="0"/>
              <a:t>In this project, we successfully developed a </a:t>
            </a:r>
            <a:r>
              <a:rPr lang="en-US" b="1" dirty="0"/>
              <a:t>Car Price Prediction Model</a:t>
            </a:r>
            <a:r>
              <a:rPr lang="en-US" dirty="0"/>
              <a:t> using </a:t>
            </a:r>
            <a:r>
              <a:rPr lang="en-US" b="1" dirty="0"/>
              <a:t>Linear Regression</a:t>
            </a:r>
            <a:r>
              <a:rPr lang="en-US" dirty="0"/>
              <a:t>, a supervised machine learning technique well-suited for predicting continuous numeric outcomes.</a:t>
            </a:r>
          </a:p>
          <a:p>
            <a:r>
              <a:rPr lang="en-US" dirty="0"/>
              <a:t>The dataset, sourced from Kaggle, was preprocessed through steps such as </a:t>
            </a:r>
            <a:r>
              <a:rPr lang="en-US" b="1" dirty="0"/>
              <a:t>exploratory data analysis (EDA)</a:t>
            </a:r>
            <a:r>
              <a:rPr lang="en-US" dirty="0"/>
              <a:t>, </a:t>
            </a:r>
            <a:r>
              <a:rPr lang="en-US" b="1" dirty="0"/>
              <a:t>null value handling</a:t>
            </a:r>
            <a:r>
              <a:rPr lang="en-US" dirty="0"/>
              <a:t>, </a:t>
            </a:r>
            <a:r>
              <a:rPr lang="en-US" b="1" dirty="0"/>
              <a:t>encoding categorical features</a:t>
            </a:r>
            <a:r>
              <a:rPr lang="en-US" dirty="0"/>
              <a:t>, and </a:t>
            </a:r>
            <a:r>
              <a:rPr lang="en-US" b="1" dirty="0"/>
              <a:t>feature selection</a:t>
            </a:r>
            <a:r>
              <a:rPr lang="en-US" dirty="0"/>
              <a:t>. The cleaned dataset was then split into </a:t>
            </a:r>
            <a:r>
              <a:rPr lang="en-US" b="1" dirty="0"/>
              <a:t>training and testing sets</a:t>
            </a:r>
            <a:r>
              <a:rPr lang="en-US" dirty="0"/>
              <a:t>, and the linear regression model was trained on the training data.</a:t>
            </a:r>
          </a:p>
          <a:p>
            <a:r>
              <a:rPr lang="en-US" dirty="0"/>
              <a:t>Upon evaluation, the model yielded performance metrics such as:</a:t>
            </a:r>
          </a:p>
          <a:p>
            <a:r>
              <a:rPr lang="en-US" b="1" dirty="0"/>
              <a:t>R² Score</a:t>
            </a:r>
            <a:r>
              <a:rPr lang="en-US" dirty="0"/>
              <a:t> – indicating how well the model explains the variance in car prices.</a:t>
            </a:r>
          </a:p>
          <a:p>
            <a:r>
              <a:rPr lang="en-US" b="1" dirty="0"/>
              <a:t>MAE (Mean Absolute Error)</a:t>
            </a:r>
            <a:r>
              <a:rPr lang="en-US" dirty="0"/>
              <a:t> – measuring the average prediction error.</a:t>
            </a:r>
          </a:p>
          <a:p>
            <a:r>
              <a:rPr lang="en-US" b="1" dirty="0"/>
              <a:t>RMSE (Root Mean Squared Error)</a:t>
            </a:r>
            <a:r>
              <a:rPr lang="en-US" dirty="0"/>
              <a:t> – quantifying the magnitude of errors.</a:t>
            </a:r>
          </a:p>
          <a:p>
            <a:r>
              <a:rPr lang="en-US" dirty="0"/>
              <a:t>These metrics demonstrate that the model performs </a:t>
            </a:r>
            <a:r>
              <a:rPr lang="en-US" b="1" dirty="0"/>
              <a:t>reasonably well in capturing linear relationships</a:t>
            </a:r>
            <a:r>
              <a:rPr lang="en-US" dirty="0"/>
              <a:t> between features (e.g., horsepower, engine size, mileage) and the car price.</a:t>
            </a:r>
          </a:p>
          <a:p>
            <a:endParaRPr lang="en-US" dirty="0"/>
          </a:p>
        </p:txBody>
      </p:sp>
    </p:spTree>
    <p:extLst>
      <p:ext uri="{BB962C8B-B14F-4D97-AF65-F5344CB8AC3E}">
        <p14:creationId xmlns:p14="http://schemas.microsoft.com/office/powerpoint/2010/main" val="42778843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Possible Improvements</a:t>
            </a:r>
          </a:p>
        </p:txBody>
      </p:sp>
      <p:sp>
        <p:nvSpPr>
          <p:cNvPr id="5" name="Rectangle 2">
            <a:extLst>
              <a:ext uri="{FF2B5EF4-FFF2-40B4-BE49-F238E27FC236}">
                <a16:creationId xmlns:a16="http://schemas.microsoft.com/office/drawing/2014/main" id="{2E823917-FC4F-A6C0-A133-91E484CFBA7C}"/>
              </a:ext>
            </a:extLst>
          </p:cNvPr>
          <p:cNvSpPr>
            <a:spLocks noGrp="1" noChangeArrowheads="1"/>
          </p:cNvSpPr>
          <p:nvPr>
            <p:ph idx="1"/>
          </p:nvPr>
        </p:nvSpPr>
        <p:spPr bwMode="auto">
          <a:xfrm>
            <a:off x="286394" y="2101690"/>
            <a:ext cx="85712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Feature Engineering</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Add new features or transform existing ones (e.g., log of price, interactions between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Outlier Handling</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Detect and remove or cap outliers to reduce prediction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Model Tuning</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Use </a:t>
            </a:r>
            <a:r>
              <a:rPr kumimoji="0" lang="en-US" altLang="en-US" sz="1800" b="1" i="0" u="none" strike="noStrike" cap="none" normalizeH="0" baseline="0">
                <a:ln>
                  <a:noFill/>
                </a:ln>
                <a:solidFill>
                  <a:schemeClr val="tx1"/>
                </a:solidFill>
                <a:effectLst/>
                <a:latin typeface="Arial" panose="020B0604020202020204" pitchFamily="34" charset="0"/>
              </a:rPr>
              <a:t>GridSearchCV</a:t>
            </a:r>
            <a:r>
              <a:rPr kumimoji="0" lang="en-US" altLang="en-US" sz="1800" b="0" i="0" u="none" strike="noStrike" cap="none" normalizeH="0" baseline="0">
                <a:ln>
                  <a:noFill/>
                </a:ln>
                <a:solidFill>
                  <a:schemeClr val="tx1"/>
                </a:solidFill>
                <a:effectLst/>
                <a:latin typeface="Arial" panose="020B0604020202020204" pitchFamily="34" charset="0"/>
              </a:rPr>
              <a:t> or </a:t>
            </a:r>
            <a:r>
              <a:rPr kumimoji="0" lang="en-US" altLang="en-US" sz="1800" b="1" i="0" u="none" strike="noStrike" cap="none" normalizeH="0" baseline="0">
                <a:ln>
                  <a:noFill/>
                </a:ln>
                <a:solidFill>
                  <a:schemeClr val="tx1"/>
                </a:solidFill>
                <a:effectLst/>
                <a:latin typeface="Arial" panose="020B0604020202020204" pitchFamily="34" charset="0"/>
              </a:rPr>
              <a:t>RandomizedSearchCV</a:t>
            </a:r>
            <a:r>
              <a:rPr kumimoji="0" lang="en-US" altLang="en-US" sz="1800" b="0" i="0" u="none" strike="noStrike" cap="none" normalizeH="0" baseline="0">
                <a:ln>
                  <a:noFill/>
                </a:ln>
                <a:solidFill>
                  <a:schemeClr val="tx1"/>
                </a:solidFill>
                <a:effectLst/>
                <a:latin typeface="Arial" panose="020B0604020202020204" pitchFamily="34" charset="0"/>
              </a:rPr>
              <a:t> for optimal hyperparameters.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Use Advanced Models</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Try </a:t>
            </a:r>
            <a:r>
              <a:rPr kumimoji="0" lang="en-US" altLang="en-US" sz="1800" b="1" i="0" u="none" strike="noStrike" cap="none" normalizeH="0" baseline="0">
                <a:ln>
                  <a:noFill/>
                </a:ln>
                <a:solidFill>
                  <a:schemeClr val="tx1"/>
                </a:solidFill>
                <a:effectLst/>
                <a:latin typeface="Arial" panose="020B0604020202020204" pitchFamily="34" charset="0"/>
              </a:rPr>
              <a:t>Ridge</a:t>
            </a: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Lasso</a:t>
            </a: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Random Forest</a:t>
            </a:r>
            <a:r>
              <a:rPr kumimoji="0" lang="en-US" altLang="en-US" sz="1800" b="0" i="0" u="none" strike="noStrike" cap="none" normalizeH="0" baseline="0">
                <a:ln>
                  <a:noFill/>
                </a:ln>
                <a:solidFill>
                  <a:schemeClr val="tx1"/>
                </a:solidFill>
                <a:effectLst/>
                <a:latin typeface="Arial" panose="020B0604020202020204" pitchFamily="34" charset="0"/>
              </a:rPr>
              <a:t>, or </a:t>
            </a:r>
            <a:r>
              <a:rPr kumimoji="0" lang="en-US" altLang="en-US" sz="1800" b="1" i="0" u="none" strike="noStrike" cap="none" normalizeH="0" baseline="0">
                <a:ln>
                  <a:noFill/>
                </a:ln>
                <a:solidFill>
                  <a:schemeClr val="tx1"/>
                </a:solidFill>
                <a:effectLst/>
                <a:latin typeface="Arial" panose="020B0604020202020204" pitchFamily="34" charset="0"/>
              </a:rPr>
              <a:t>XGBoost</a:t>
            </a:r>
            <a:r>
              <a:rPr kumimoji="0" lang="en-US" altLang="en-US" sz="1800" b="0" i="0" u="none" strike="noStrike" cap="none" normalizeH="0" baseline="0">
                <a:ln>
                  <a:noFill/>
                </a:ln>
                <a:solidFill>
                  <a:schemeClr val="tx1"/>
                </a:solidFill>
                <a:effectLst/>
                <a:latin typeface="Arial" panose="020B0604020202020204" pitchFamily="34" charset="0"/>
              </a:rPr>
              <a:t> for better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181" y="268710"/>
            <a:ext cx="7773338" cy="1596177"/>
          </a:xfrm>
        </p:spPr>
        <p:txBody>
          <a:bodyPr>
            <a:normAutofit/>
          </a:bodyPr>
          <a:lstStyle/>
          <a:p>
            <a:r>
              <a:rPr sz="6000" dirty="0"/>
              <a:t>References</a:t>
            </a:r>
          </a:p>
        </p:txBody>
      </p:sp>
      <p:sp>
        <p:nvSpPr>
          <p:cNvPr id="3" name="Content Placeholder 2"/>
          <p:cNvSpPr>
            <a:spLocks noGrp="1"/>
          </p:cNvSpPr>
          <p:nvPr>
            <p:ph idx="1"/>
          </p:nvPr>
        </p:nvSpPr>
        <p:spPr>
          <a:xfrm>
            <a:off x="446180" y="1864887"/>
            <a:ext cx="8251639" cy="3424107"/>
          </a:xfrm>
        </p:spPr>
        <p:txBody>
          <a:bodyPr/>
          <a:lstStyle/>
          <a:p>
            <a:endParaRPr dirty="0"/>
          </a:p>
          <a:p>
            <a:r>
              <a:rPr sz="2800" dirty="0"/>
              <a:t>Kaggle dataset</a:t>
            </a:r>
            <a:r>
              <a:rPr lang="en-US" sz="2800" dirty="0"/>
              <a:t>  (car price prediction) </a:t>
            </a:r>
          </a:p>
          <a:p>
            <a:r>
              <a:rPr sz="2800" dirty="0"/>
              <a:t> </a:t>
            </a:r>
            <a:r>
              <a:rPr sz="2800" dirty="0" err="1"/>
              <a:t>sklearn</a:t>
            </a:r>
            <a:r>
              <a:rPr sz="2800" dirty="0"/>
              <a:t> docs</a:t>
            </a:r>
            <a:r>
              <a:rPr lang="en-US" sz="2800" dirty="0"/>
              <a:t> </a:t>
            </a:r>
          </a:p>
          <a:p>
            <a:r>
              <a:rPr sz="2800" dirty="0"/>
              <a:t> pandas docs.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385" y="2063720"/>
            <a:ext cx="7773338" cy="1596177"/>
          </a:xfrm>
        </p:spPr>
        <p:txBody>
          <a:bodyPr>
            <a:normAutofit/>
          </a:bodyPr>
          <a:lstStyle/>
          <a:p>
            <a:r>
              <a:rPr sz="8800" dirty="0"/>
              <a:t>Thank You!</a:t>
            </a:r>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TM04033925[[fn=Droplet]]</Template>
  <TotalTime>467</TotalTime>
  <Words>1894</Words>
  <Application>Microsoft Office PowerPoint</Application>
  <PresentationFormat>On-screen Show (4:3)</PresentationFormat>
  <Paragraphs>168</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Tw Cen MT</vt:lpstr>
      <vt:lpstr>Droplet</vt:lpstr>
      <vt:lpstr>Car Price Prediction Using Machine Learning</vt:lpstr>
      <vt:lpstr>Project Overview</vt:lpstr>
      <vt:lpstr>Problem Statement</vt:lpstr>
      <vt:lpstr>Objective</vt:lpstr>
      <vt:lpstr>Scope of the Project</vt:lpstr>
      <vt:lpstr>About the Dataset</vt:lpstr>
      <vt:lpstr>Feature Description</vt:lpstr>
      <vt:lpstr>Target Variable</vt:lpstr>
      <vt:lpstr>Libraries used </vt:lpstr>
      <vt:lpstr>Code </vt:lpstr>
      <vt:lpstr>Loading the Dataset</vt:lpstr>
      <vt:lpstr>code</vt:lpstr>
      <vt:lpstr>EDA ( Exploratory Data Analysis ) </vt:lpstr>
      <vt:lpstr>DATA DESCRIPTION </vt:lpstr>
      <vt:lpstr>DATA DESCRIPTION </vt:lpstr>
      <vt:lpstr>DATA COLUMNS </vt:lpstr>
      <vt:lpstr>PowerPoint Presentation</vt:lpstr>
      <vt:lpstr>PowerPoint Presentation</vt:lpstr>
      <vt:lpstr>HISTOGRAM </vt:lpstr>
      <vt:lpstr>PowerPoint Presentation</vt:lpstr>
      <vt:lpstr>DESCRIPTION </vt:lpstr>
      <vt:lpstr>INSIGHT </vt:lpstr>
      <vt:lpstr>BOX PLOT </vt:lpstr>
      <vt:lpstr>PowerPoint Presentation</vt:lpstr>
      <vt:lpstr>DESCRIPTION </vt:lpstr>
      <vt:lpstr>INSIGHT </vt:lpstr>
      <vt:lpstr>SCATTER PLOT </vt:lpstr>
      <vt:lpstr>PowerPoint Presentation</vt:lpstr>
      <vt:lpstr>DESCRIPTION</vt:lpstr>
      <vt:lpstr>INSIGHT </vt:lpstr>
      <vt:lpstr>PowerPoint Presentation</vt:lpstr>
      <vt:lpstr>DESCRIPTION</vt:lpstr>
      <vt:lpstr>INSIGHT</vt:lpstr>
      <vt:lpstr>PowerPoint Presentation</vt:lpstr>
      <vt:lpstr>DESCRIPTION</vt:lpstr>
      <vt:lpstr>INSIGHT </vt:lpstr>
      <vt:lpstr>HEAT MAP</vt:lpstr>
      <vt:lpstr>PowerPoint Presentation</vt:lpstr>
      <vt:lpstr>DESCRIPTION</vt:lpstr>
      <vt:lpstr>INSIGHT </vt:lpstr>
      <vt:lpstr>Extract Car NAMES</vt:lpstr>
      <vt:lpstr>Splitting Data: Train and Test Sets </vt:lpstr>
      <vt:lpstr>Code </vt:lpstr>
      <vt:lpstr>Why linear regression? </vt:lpstr>
      <vt:lpstr>PowerPoint Presentation</vt:lpstr>
      <vt:lpstr>EvaluatION matrix </vt:lpstr>
      <vt:lpstr>INSIGHT </vt:lpstr>
      <vt:lpstr>Possible Improvements</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Raghav Sharma</cp:lastModifiedBy>
  <cp:revision>4</cp:revision>
  <dcterms:created xsi:type="dcterms:W3CDTF">2013-01-27T09:14:16Z</dcterms:created>
  <dcterms:modified xsi:type="dcterms:W3CDTF">2025-07-23T17:39:20Z</dcterms:modified>
  <cp:category/>
</cp:coreProperties>
</file>